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7740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332"/>
    <a:srgbClr val="212B49"/>
    <a:srgbClr val="2A6083"/>
    <a:srgbClr val="475C9F"/>
    <a:srgbClr val="2C3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354" autoAdjust="0"/>
  </p:normalViewPr>
  <p:slideViewPr>
    <p:cSldViewPr snapToGrid="0">
      <p:cViewPr varScale="1">
        <p:scale>
          <a:sx n="92" d="100"/>
          <a:sy n="92" d="100"/>
        </p:scale>
        <p:origin x="6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66815"/>
            <a:ext cx="9144000" cy="269489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65633"/>
            <a:ext cx="9144000" cy="186886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A498-9A6B-4547-9BC4-5FAFA4FE15D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30416-2BD1-4E57-B6CC-1922633FA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5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A498-9A6B-4547-9BC4-5FAFA4FE15D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30416-2BD1-4E57-B6CC-1922633FA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82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929788"/>
            <a:ext cx="10515600" cy="321989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180144"/>
            <a:ext cx="10515600" cy="169326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A498-9A6B-4547-9BC4-5FAFA4FE15D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30416-2BD1-4E57-B6CC-1922633FA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191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60590"/>
            <a:ext cx="5181600" cy="4911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60590"/>
            <a:ext cx="5181600" cy="4911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A498-9A6B-4547-9BC4-5FAFA4FE15D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30416-2BD1-4E57-B6CC-1922633FA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62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12118"/>
            <a:ext cx="10515600" cy="14961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897535"/>
            <a:ext cx="5157787" cy="92995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827487"/>
            <a:ext cx="5157787" cy="41588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97535"/>
            <a:ext cx="5183188" cy="92995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827487"/>
            <a:ext cx="5183188" cy="41588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A498-9A6B-4547-9BC4-5FAFA4FE15D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30416-2BD1-4E57-B6CC-1922633FA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993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A498-9A6B-4547-9BC4-5FAFA4FE15D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30416-2BD1-4E57-B6CC-1922633FA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28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A498-9A6B-4547-9BC4-5FAFA4FE15D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30416-2BD1-4E57-B6CC-1922633FA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288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16043"/>
            <a:ext cx="3932237" cy="18061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14511"/>
            <a:ext cx="6172200" cy="550087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322195"/>
            <a:ext cx="3932237" cy="430215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A498-9A6B-4547-9BC4-5FAFA4FE15D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30416-2BD1-4E57-B6CC-1922633FA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237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16043"/>
            <a:ext cx="3932237" cy="18061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14511"/>
            <a:ext cx="6172200" cy="550087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322195"/>
            <a:ext cx="3932237" cy="430215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A498-9A6B-4547-9BC4-5FAFA4FE15D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30416-2BD1-4E57-B6CC-1922633FA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56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A498-9A6B-4547-9BC4-5FAFA4FE15D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30416-2BD1-4E57-B6CC-1922633FA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68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118"/>
            <a:ext cx="2628900" cy="65598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118"/>
            <a:ext cx="7734300" cy="65598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A498-9A6B-4547-9BC4-5FAFA4FE15D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30416-2BD1-4E57-B6CC-1922633FA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91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12118"/>
            <a:ext cx="10515600" cy="1496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60590"/>
            <a:ext cx="10515600" cy="4911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174436"/>
            <a:ext cx="2743200" cy="41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9A498-9A6B-4547-9BC4-5FAFA4FE15D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174436"/>
            <a:ext cx="4114800" cy="41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174436"/>
            <a:ext cx="2743200" cy="41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30416-2BD1-4E57-B6CC-1922633FA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63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1C333-FC15-76D2-A616-CD32771D8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0F60D9A-6964-036A-0FF3-0B660C4EAF60}"/>
              </a:ext>
            </a:extLst>
          </p:cNvPr>
          <p:cNvGrpSpPr/>
          <p:nvPr/>
        </p:nvGrpSpPr>
        <p:grpSpPr>
          <a:xfrm>
            <a:off x="140483" y="574421"/>
            <a:ext cx="11911037" cy="6591811"/>
            <a:chOff x="231585" y="650233"/>
            <a:chExt cx="7839264" cy="502822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88D8868-13D2-3751-21D0-11C8D81E20D4}"/>
                </a:ext>
              </a:extLst>
            </p:cNvPr>
            <p:cNvSpPr/>
            <p:nvPr/>
          </p:nvSpPr>
          <p:spPr>
            <a:xfrm>
              <a:off x="625714" y="650234"/>
              <a:ext cx="7445135" cy="160401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4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endParaRPr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99261F82-4E6F-54B9-5424-BB878FF9461E}"/>
                </a:ext>
              </a:extLst>
            </p:cNvPr>
            <p:cNvSpPr/>
            <p:nvPr/>
          </p:nvSpPr>
          <p:spPr>
            <a:xfrm>
              <a:off x="625714" y="2484759"/>
              <a:ext cx="7445135" cy="173799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4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endParaRPr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2286D083-E981-B847-2F93-621003F384BB}"/>
                </a:ext>
              </a:extLst>
            </p:cNvPr>
            <p:cNvSpPr/>
            <p:nvPr/>
          </p:nvSpPr>
          <p:spPr>
            <a:xfrm>
              <a:off x="625714" y="4503358"/>
              <a:ext cx="7445135" cy="11751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4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1EF5149-C1EE-5E07-7800-71FD71168F97}"/>
                </a:ext>
              </a:extLst>
            </p:cNvPr>
            <p:cNvSpPr/>
            <p:nvPr/>
          </p:nvSpPr>
          <p:spPr>
            <a:xfrm rot="16200000">
              <a:off x="-437346" y="1319164"/>
              <a:ext cx="1604017" cy="266156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Input Layer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E2FF4AC-65D5-D3C5-D5DF-E6F14C6B653C}"/>
                </a:ext>
              </a:extLst>
            </p:cNvPr>
            <p:cNvSpPr/>
            <p:nvPr/>
          </p:nvSpPr>
          <p:spPr>
            <a:xfrm>
              <a:off x="2203450" y="771590"/>
              <a:ext cx="1473200" cy="815910"/>
            </a:xfrm>
            <a:prstGeom prst="roundRect">
              <a:avLst>
                <a:gd name="adj" fmla="val 980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DHIS2 Data Sources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Morbidity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Logistics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Climate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19D9B0C-8692-AE6E-4CDC-99158D0DD3F0}"/>
                </a:ext>
              </a:extLst>
            </p:cNvPr>
            <p:cNvSpPr/>
            <p:nvPr/>
          </p:nvSpPr>
          <p:spPr>
            <a:xfrm>
              <a:off x="751249" y="1320801"/>
              <a:ext cx="963251" cy="266699"/>
            </a:xfrm>
            <a:prstGeom prst="roundRect">
              <a:avLst>
                <a:gd name="adj" fmla="val 980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Climate App</a:t>
              </a:r>
              <a:endParaRPr lang="en-GB" sz="14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105CEFB-6698-4B90-0DCB-BCFCDEC92FA7}"/>
                </a:ext>
              </a:extLst>
            </p:cNvPr>
            <p:cNvSpPr/>
            <p:nvPr/>
          </p:nvSpPr>
          <p:spPr>
            <a:xfrm>
              <a:off x="751249" y="771590"/>
              <a:ext cx="963251" cy="266699"/>
            </a:xfrm>
            <a:prstGeom prst="roundRect">
              <a:avLst>
                <a:gd name="adj" fmla="val 980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Local LMIS</a:t>
              </a:r>
              <a:endParaRPr lang="en-GB" sz="14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DFE5CF4-5E82-EC1F-7C3D-9589622E2F4C}"/>
                </a:ext>
              </a:extLst>
            </p:cNvPr>
            <p:cNvSpPr/>
            <p:nvPr/>
          </p:nvSpPr>
          <p:spPr>
            <a:xfrm>
              <a:off x="3964107" y="771590"/>
              <a:ext cx="2433518" cy="1330260"/>
            </a:xfrm>
            <a:prstGeom prst="roundRect">
              <a:avLst>
                <a:gd name="adj" fmla="val 7897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CHAP Model Library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Auto EWARS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INLA Baseline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Statistical Methods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Machine Learning Methods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endParaRPr>
            </a:p>
            <a:p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Variants: Core and Core + Covariates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A99ACEB-EC25-5373-CA59-8750AB0951C2}"/>
                </a:ext>
              </a:extLst>
            </p:cNvPr>
            <p:cNvSpPr/>
            <p:nvPr/>
          </p:nvSpPr>
          <p:spPr>
            <a:xfrm>
              <a:off x="6821849" y="1835151"/>
              <a:ext cx="1153752" cy="266699"/>
            </a:xfrm>
            <a:prstGeom prst="roundRect">
              <a:avLst>
                <a:gd name="adj" fmla="val 980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External Models</a:t>
              </a:r>
              <a:endParaRPr lang="en-GB" sz="14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61725FD-E17F-3ACF-FD13-E7193CE62E89}"/>
                </a:ext>
              </a:extLst>
            </p:cNvPr>
            <p:cNvSpPr/>
            <p:nvPr/>
          </p:nvSpPr>
          <p:spPr>
            <a:xfrm>
              <a:off x="6821848" y="771590"/>
              <a:ext cx="1153751" cy="266699"/>
            </a:xfrm>
            <a:prstGeom prst="roundRect">
              <a:avLst>
                <a:gd name="adj" fmla="val 980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Modelling App</a:t>
              </a:r>
              <a:endParaRPr lang="en-GB" sz="14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endParaRPr>
            </a:p>
          </p:txBody>
        </p: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EF3564E4-CEFC-8275-B3EE-20207EC44BF1}"/>
                </a:ext>
              </a:extLst>
            </p:cNvPr>
            <p:cNvCxnSpPr>
              <a:stCxn id="7" idx="3"/>
              <a:endCxn id="4" idx="1"/>
            </p:cNvCxnSpPr>
            <p:nvPr/>
          </p:nvCxnSpPr>
          <p:spPr>
            <a:xfrm>
              <a:off x="1714500" y="904940"/>
              <a:ext cx="488950" cy="274605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: Elbow 79">
              <a:extLst>
                <a:ext uri="{FF2B5EF4-FFF2-40B4-BE49-F238E27FC236}">
                  <a16:creationId xmlns:a16="http://schemas.microsoft.com/office/drawing/2014/main" id="{1E751B3E-C4BF-D19C-560E-DAE102C1F9CA}"/>
                </a:ext>
              </a:extLst>
            </p:cNvPr>
            <p:cNvCxnSpPr>
              <a:cxnSpLocks/>
              <a:stCxn id="6" idx="3"/>
              <a:endCxn id="4" idx="1"/>
            </p:cNvCxnSpPr>
            <p:nvPr/>
          </p:nvCxnSpPr>
          <p:spPr>
            <a:xfrm flipV="1">
              <a:off x="1714500" y="1179545"/>
              <a:ext cx="488950" cy="274606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22657375-A281-7DC3-40B7-C3925DC3E901}"/>
                </a:ext>
              </a:extLst>
            </p:cNvPr>
            <p:cNvCxnSpPr>
              <a:cxnSpLocks/>
              <a:stCxn id="11" idx="1"/>
              <a:endCxn id="9" idx="3"/>
            </p:cNvCxnSpPr>
            <p:nvPr/>
          </p:nvCxnSpPr>
          <p:spPr>
            <a:xfrm rot="10800000" flipV="1">
              <a:off x="6397626" y="904940"/>
              <a:ext cx="424223" cy="53178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: Elbow 89">
              <a:extLst>
                <a:ext uri="{FF2B5EF4-FFF2-40B4-BE49-F238E27FC236}">
                  <a16:creationId xmlns:a16="http://schemas.microsoft.com/office/drawing/2014/main" id="{57EE319E-1F5F-0ECE-D75B-1B25B3DEE979}"/>
                </a:ext>
              </a:extLst>
            </p:cNvPr>
            <p:cNvCxnSpPr>
              <a:cxnSpLocks/>
              <a:stCxn id="10" idx="1"/>
              <a:endCxn id="9" idx="3"/>
            </p:cNvCxnSpPr>
            <p:nvPr/>
          </p:nvCxnSpPr>
          <p:spPr>
            <a:xfrm rot="10800000">
              <a:off x="6397625" y="1436721"/>
              <a:ext cx="424224" cy="53178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135777CC-EE58-185E-F3DB-5E100563904F}"/>
                </a:ext>
              </a:extLst>
            </p:cNvPr>
            <p:cNvSpPr/>
            <p:nvPr/>
          </p:nvSpPr>
          <p:spPr>
            <a:xfrm rot="16200000">
              <a:off x="-504335" y="3220678"/>
              <a:ext cx="1737995" cy="266156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CHAP Evaluation</a:t>
              </a:r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992973EB-22BD-91A6-D910-CC2B956AFEEB}"/>
                </a:ext>
              </a:extLst>
            </p:cNvPr>
            <p:cNvSpPr/>
            <p:nvPr/>
          </p:nvSpPr>
          <p:spPr>
            <a:xfrm>
              <a:off x="751249" y="2765364"/>
              <a:ext cx="2925401" cy="1254186"/>
            </a:xfrm>
            <a:prstGeom prst="roundRect">
              <a:avLst>
                <a:gd name="adj" fmla="val 980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CHAP Cross-Validation &amp; Probabilistic Forecast Engine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Rolling-origin (7 windows, 6-month horizon)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Forecast distributions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1000 sample paths </a:t>
              </a:r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3B629279-63FC-CCF8-2D80-9615F3D5579F}"/>
                </a:ext>
              </a:extLst>
            </p:cNvPr>
            <p:cNvSpPr/>
            <p:nvPr/>
          </p:nvSpPr>
          <p:spPr>
            <a:xfrm>
              <a:off x="3964107" y="2765364"/>
              <a:ext cx="1862017" cy="1254186"/>
            </a:xfrm>
            <a:prstGeom prst="roundRect">
              <a:avLst>
                <a:gd name="adj" fmla="val 980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Forecast Output Objects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Mean forecast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Sample paths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Quantiles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(stored as CSV/JSON for downstream use) </a:t>
              </a: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56983F6D-8A8D-178C-48EB-BA7FF10C1593}"/>
                </a:ext>
              </a:extLst>
            </p:cNvPr>
            <p:cNvSpPr/>
            <p:nvPr/>
          </p:nvSpPr>
          <p:spPr>
            <a:xfrm>
              <a:off x="6113582" y="2765364"/>
              <a:ext cx="1862017" cy="1254186"/>
            </a:xfrm>
            <a:prstGeom prst="roundRect">
              <a:avLst>
                <a:gd name="adj" fmla="val 980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Forecast Evaluation Objects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MASE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Quantile loss at q90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Coverage at q90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(stored as CSV/JSON for downstream use)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endParaRPr>
            </a:p>
          </p:txBody>
        </p:sp>
        <p:cxnSp>
          <p:nvCxnSpPr>
            <p:cNvPr id="101" name="Connector: Elbow 100">
              <a:extLst>
                <a:ext uri="{FF2B5EF4-FFF2-40B4-BE49-F238E27FC236}">
                  <a16:creationId xmlns:a16="http://schemas.microsoft.com/office/drawing/2014/main" id="{AC4FDEEC-FDAB-D211-A7E2-C26AB9FCDCEF}"/>
                </a:ext>
              </a:extLst>
            </p:cNvPr>
            <p:cNvCxnSpPr>
              <a:cxnSpLocks/>
              <a:stCxn id="4" idx="2"/>
              <a:endCxn id="98" idx="0"/>
            </p:cNvCxnSpPr>
            <p:nvPr/>
          </p:nvCxnSpPr>
          <p:spPr>
            <a:xfrm rot="5400000">
              <a:off x="1988068" y="1813382"/>
              <a:ext cx="1177864" cy="726100"/>
            </a:xfrm>
            <a:prstGeom prst="bentConnector3">
              <a:avLst>
                <a:gd name="adj1" fmla="val 6401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7DF5E5E4-B25B-EB32-9FBD-27CA3DDB86B1}"/>
                </a:ext>
              </a:extLst>
            </p:cNvPr>
            <p:cNvCxnSpPr>
              <a:cxnSpLocks/>
              <a:stCxn id="9" idx="2"/>
              <a:endCxn id="98" idx="0"/>
            </p:cNvCxnSpPr>
            <p:nvPr/>
          </p:nvCxnSpPr>
          <p:spPr>
            <a:xfrm rot="5400000">
              <a:off x="3365651" y="950149"/>
              <a:ext cx="663514" cy="2966916"/>
            </a:xfrm>
            <a:prstGeom prst="bentConnector3">
              <a:avLst>
                <a:gd name="adj1" fmla="val 36126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9E07EAD0-D258-2ACB-B4DC-CFEEF55BE006}"/>
                </a:ext>
              </a:extLst>
            </p:cNvPr>
            <p:cNvCxnSpPr>
              <a:cxnSpLocks/>
              <a:stCxn id="124" idx="3"/>
              <a:endCxn id="125" idx="1"/>
            </p:cNvCxnSpPr>
            <p:nvPr/>
          </p:nvCxnSpPr>
          <p:spPr>
            <a:xfrm>
              <a:off x="3676650" y="5090909"/>
              <a:ext cx="2874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or: Elbow 112">
              <a:extLst>
                <a:ext uri="{FF2B5EF4-FFF2-40B4-BE49-F238E27FC236}">
                  <a16:creationId xmlns:a16="http://schemas.microsoft.com/office/drawing/2014/main" id="{323D23FA-6988-ADDD-1140-3C2C5A223DC3}"/>
                </a:ext>
              </a:extLst>
            </p:cNvPr>
            <p:cNvCxnSpPr>
              <a:cxnSpLocks/>
              <a:stCxn id="98" idx="3"/>
              <a:endCxn id="100" idx="0"/>
            </p:cNvCxnSpPr>
            <p:nvPr/>
          </p:nvCxnSpPr>
          <p:spPr>
            <a:xfrm flipV="1">
              <a:off x="3676650" y="2765364"/>
              <a:ext cx="3367941" cy="627093"/>
            </a:xfrm>
            <a:prstGeom prst="bentConnector4">
              <a:avLst>
                <a:gd name="adj1" fmla="val 3015"/>
                <a:gd name="adj2" fmla="val 122753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C2D671DC-9047-C05F-D539-C5FDDDC90B0F}"/>
                </a:ext>
              </a:extLst>
            </p:cNvPr>
            <p:cNvSpPr/>
            <p:nvPr/>
          </p:nvSpPr>
          <p:spPr>
            <a:xfrm rot="16200000">
              <a:off x="-222890" y="4957830"/>
              <a:ext cx="1175106" cy="266156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Inventory Policy</a:t>
              </a:r>
            </a:p>
          </p:txBody>
        </p:sp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5F149846-ECEC-1D8D-7F7F-B84703638F3C}"/>
                </a:ext>
              </a:extLst>
            </p:cNvPr>
            <p:cNvSpPr/>
            <p:nvPr/>
          </p:nvSpPr>
          <p:spPr>
            <a:xfrm>
              <a:off x="751249" y="4625418"/>
              <a:ext cx="2925401" cy="930981"/>
            </a:xfrm>
            <a:prstGeom prst="roundRect">
              <a:avLst>
                <a:gd name="adj" fmla="val 980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Inventory Policy Simulation (external)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Order-up-to quantile rule (q80–q97.5)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1-month lead time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Lost-sales model </a:t>
              </a:r>
            </a:p>
          </p:txBody>
        </p:sp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A1296377-082F-2F41-F17D-F8ED86F516E9}"/>
                </a:ext>
              </a:extLst>
            </p:cNvPr>
            <p:cNvSpPr/>
            <p:nvPr/>
          </p:nvSpPr>
          <p:spPr>
            <a:xfrm>
              <a:off x="3964107" y="4625418"/>
              <a:ext cx="1862017" cy="930981"/>
            </a:xfrm>
            <a:prstGeom prst="roundRect">
              <a:avLst>
                <a:gd name="adj" fmla="val 980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400" b="1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Inventory Performance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Cycle Service Level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Stockout Rate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/>
                  </a:solidFill>
                  <a:latin typeface="Garamond" panose="02020404030301010803" pitchFamily="18" charset="0"/>
                  <a:cs typeface="Assistant ExtraBold" pitchFamily="2" charset="-79"/>
                </a:rPr>
                <a:t>Average Inventory </a:t>
              </a:r>
            </a:p>
          </p:txBody>
        </p:sp>
        <p:cxnSp>
          <p:nvCxnSpPr>
            <p:cNvPr id="130" name="Connector: Elbow 129">
              <a:extLst>
                <a:ext uri="{FF2B5EF4-FFF2-40B4-BE49-F238E27FC236}">
                  <a16:creationId xmlns:a16="http://schemas.microsoft.com/office/drawing/2014/main" id="{93F6FA26-4ECE-5FED-E56E-47FD5C9B1708}"/>
                </a:ext>
              </a:extLst>
            </p:cNvPr>
            <p:cNvCxnSpPr>
              <a:cxnSpLocks/>
              <a:stCxn id="99" idx="2"/>
              <a:endCxn id="124" idx="0"/>
            </p:cNvCxnSpPr>
            <p:nvPr/>
          </p:nvCxnSpPr>
          <p:spPr>
            <a:xfrm rot="5400000">
              <a:off x="3251599" y="2981901"/>
              <a:ext cx="605868" cy="268116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6002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97326-0627-83A7-5F7A-76184628C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: Rounded Corners 322">
            <a:extLst>
              <a:ext uri="{FF2B5EF4-FFF2-40B4-BE49-F238E27FC236}">
                <a16:creationId xmlns:a16="http://schemas.microsoft.com/office/drawing/2014/main" id="{2711DCAE-294D-30B6-0D58-E567CA009D14}"/>
              </a:ext>
            </a:extLst>
          </p:cNvPr>
          <p:cNvSpPr/>
          <p:nvPr/>
        </p:nvSpPr>
        <p:spPr>
          <a:xfrm>
            <a:off x="10156063" y="3553404"/>
            <a:ext cx="1807864" cy="3507797"/>
          </a:xfrm>
          <a:prstGeom prst="roundRect">
            <a:avLst>
              <a:gd name="adj" fmla="val 3796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MODEL GOVERNANCE</a:t>
            </a:r>
          </a:p>
        </p:txBody>
      </p:sp>
      <p:sp>
        <p:nvSpPr>
          <p:cNvPr id="281" name="Rectangle: Rounded Corners 280">
            <a:extLst>
              <a:ext uri="{FF2B5EF4-FFF2-40B4-BE49-F238E27FC236}">
                <a16:creationId xmlns:a16="http://schemas.microsoft.com/office/drawing/2014/main" id="{5B75B26B-5BFE-68DD-162C-AF7819B7DF6F}"/>
              </a:ext>
            </a:extLst>
          </p:cNvPr>
          <p:cNvSpPr/>
          <p:nvPr/>
        </p:nvSpPr>
        <p:spPr>
          <a:xfrm>
            <a:off x="1658307" y="142356"/>
            <a:ext cx="4293756" cy="3331094"/>
          </a:xfrm>
          <a:prstGeom prst="roundRect">
            <a:avLst>
              <a:gd name="adj" fmla="val 3796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DATA LAYER</a:t>
            </a:r>
          </a:p>
        </p:txBody>
      </p:sp>
      <p:sp>
        <p:nvSpPr>
          <p:cNvPr id="292" name="Rectangle: Rounded Corners 291">
            <a:extLst>
              <a:ext uri="{FF2B5EF4-FFF2-40B4-BE49-F238E27FC236}">
                <a16:creationId xmlns:a16="http://schemas.microsoft.com/office/drawing/2014/main" id="{67407951-B2E4-E68F-BEAC-7BAAF8237480}"/>
              </a:ext>
            </a:extLst>
          </p:cNvPr>
          <p:cNvSpPr/>
          <p:nvPr/>
        </p:nvSpPr>
        <p:spPr>
          <a:xfrm>
            <a:off x="1658306" y="3843398"/>
            <a:ext cx="4293756" cy="3515052"/>
          </a:xfrm>
          <a:prstGeom prst="roundRect">
            <a:avLst>
              <a:gd name="adj" fmla="val 3796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FORECASTING ENGINE</a:t>
            </a:r>
          </a:p>
        </p:txBody>
      </p:sp>
      <p:sp>
        <p:nvSpPr>
          <p:cNvPr id="305" name="Rectangle: Rounded Corners 304">
            <a:extLst>
              <a:ext uri="{FF2B5EF4-FFF2-40B4-BE49-F238E27FC236}">
                <a16:creationId xmlns:a16="http://schemas.microsoft.com/office/drawing/2014/main" id="{A0B76AAC-C1AA-308D-A67F-C48D08445AB0}"/>
              </a:ext>
            </a:extLst>
          </p:cNvPr>
          <p:cNvSpPr/>
          <p:nvPr/>
        </p:nvSpPr>
        <p:spPr>
          <a:xfrm>
            <a:off x="6268982" y="142356"/>
            <a:ext cx="3615728" cy="3331094"/>
          </a:xfrm>
          <a:prstGeom prst="roundRect">
            <a:avLst>
              <a:gd name="adj" fmla="val 3796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INVENTORY ENGINE</a:t>
            </a:r>
          </a:p>
        </p:txBody>
      </p:sp>
      <p:sp>
        <p:nvSpPr>
          <p:cNvPr id="319" name="Rectangle: Rounded Corners 318">
            <a:extLst>
              <a:ext uri="{FF2B5EF4-FFF2-40B4-BE49-F238E27FC236}">
                <a16:creationId xmlns:a16="http://schemas.microsoft.com/office/drawing/2014/main" id="{36872B7D-6CAB-B8E8-91D6-02069D3AFDC4}"/>
              </a:ext>
            </a:extLst>
          </p:cNvPr>
          <p:cNvSpPr/>
          <p:nvPr/>
        </p:nvSpPr>
        <p:spPr>
          <a:xfrm>
            <a:off x="6268982" y="3849555"/>
            <a:ext cx="3615728" cy="2602045"/>
          </a:xfrm>
          <a:prstGeom prst="roundRect">
            <a:avLst>
              <a:gd name="adj" fmla="val 3796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DECISION SUPPORT &amp; DEPLOYMENT LAYER</a:t>
            </a:r>
          </a:p>
        </p:txBody>
      </p:sp>
      <p:cxnSp>
        <p:nvCxnSpPr>
          <p:cNvPr id="349" name="Connector: Elbow 348">
            <a:extLst>
              <a:ext uri="{FF2B5EF4-FFF2-40B4-BE49-F238E27FC236}">
                <a16:creationId xmlns:a16="http://schemas.microsoft.com/office/drawing/2014/main" id="{2A57D247-A0D1-756D-4947-5783C3E75226}"/>
              </a:ext>
            </a:extLst>
          </p:cNvPr>
          <p:cNvCxnSpPr>
            <a:cxnSpLocks/>
          </p:cNvCxnSpPr>
          <p:nvPr/>
        </p:nvCxnSpPr>
        <p:spPr>
          <a:xfrm>
            <a:off x="5252608" y="5279519"/>
            <a:ext cx="5426387" cy="1447758"/>
          </a:xfrm>
          <a:prstGeom prst="bentConnector4">
            <a:avLst>
              <a:gd name="adj1" fmla="val 17567"/>
              <a:gd name="adj2" fmla="val 11462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: Elbow 285">
            <a:extLst>
              <a:ext uri="{FF2B5EF4-FFF2-40B4-BE49-F238E27FC236}">
                <a16:creationId xmlns:a16="http://schemas.microsoft.com/office/drawing/2014/main" id="{5D5D92B5-8A54-561F-554A-F32645AC2FFE}"/>
              </a:ext>
            </a:extLst>
          </p:cNvPr>
          <p:cNvCxnSpPr>
            <a:cxnSpLocks/>
          </p:cNvCxnSpPr>
          <p:nvPr/>
        </p:nvCxnSpPr>
        <p:spPr>
          <a:xfrm>
            <a:off x="5633608" y="6118359"/>
            <a:ext cx="5257049" cy="608918"/>
          </a:xfrm>
          <a:prstGeom prst="bentConnector4">
            <a:avLst>
              <a:gd name="adj1" fmla="val 9436"/>
              <a:gd name="adj2" fmla="val 198722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Rectangle: Rounded Corners 277">
            <a:extLst>
              <a:ext uri="{FF2B5EF4-FFF2-40B4-BE49-F238E27FC236}">
                <a16:creationId xmlns:a16="http://schemas.microsoft.com/office/drawing/2014/main" id="{66C5527B-DE0B-5151-4C57-6817F3AE3BFE}"/>
              </a:ext>
            </a:extLst>
          </p:cNvPr>
          <p:cNvSpPr/>
          <p:nvPr/>
        </p:nvSpPr>
        <p:spPr>
          <a:xfrm>
            <a:off x="3945463" y="528419"/>
            <a:ext cx="1857485" cy="1774106"/>
          </a:xfrm>
          <a:prstGeom prst="roundRect">
            <a:avLst>
              <a:gd name="adj" fmla="val 5246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DHIS2 Health Data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Morbidity cases (e.g., dengue, malaria)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Routine logistics data (dispensed, stock on hand, orders, stockouts)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Facility metadata (location master, product master, event master)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Patient registry/ demographic data</a:t>
            </a:r>
          </a:p>
        </p:txBody>
      </p:sp>
      <p:sp>
        <p:nvSpPr>
          <p:cNvPr id="279" name="Rectangle: Rounded Corners 278">
            <a:extLst>
              <a:ext uri="{FF2B5EF4-FFF2-40B4-BE49-F238E27FC236}">
                <a16:creationId xmlns:a16="http://schemas.microsoft.com/office/drawing/2014/main" id="{E3AA58D0-0C75-D3FF-98D3-7BD17AE24288}"/>
              </a:ext>
            </a:extLst>
          </p:cNvPr>
          <p:cNvSpPr/>
          <p:nvPr/>
        </p:nvSpPr>
        <p:spPr>
          <a:xfrm>
            <a:off x="36314" y="1779599"/>
            <a:ext cx="1299299" cy="243935"/>
          </a:xfrm>
          <a:prstGeom prst="roundRect">
            <a:avLst>
              <a:gd name="adj" fmla="val 9806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Climate App</a:t>
            </a:r>
            <a:endParaRPr lang="en-GB" sz="1000" dirty="0">
              <a:solidFill>
                <a:schemeClr val="tx1"/>
              </a:solidFill>
              <a:latin typeface="Garamond" panose="02020404030301010803" pitchFamily="18" charset="0"/>
              <a:cs typeface="Assistant ExtraBold" pitchFamily="2" charset="-79"/>
            </a:endParaRPr>
          </a:p>
        </p:txBody>
      </p:sp>
      <p:sp>
        <p:nvSpPr>
          <p:cNvPr id="280" name="Rectangle: Rounded Corners 279">
            <a:extLst>
              <a:ext uri="{FF2B5EF4-FFF2-40B4-BE49-F238E27FC236}">
                <a16:creationId xmlns:a16="http://schemas.microsoft.com/office/drawing/2014/main" id="{30FFD574-B29E-74D0-47F8-38D4BCAF6B2D}"/>
              </a:ext>
            </a:extLst>
          </p:cNvPr>
          <p:cNvSpPr/>
          <p:nvPr/>
        </p:nvSpPr>
        <p:spPr>
          <a:xfrm>
            <a:off x="36313" y="776400"/>
            <a:ext cx="1299300" cy="243935"/>
          </a:xfrm>
          <a:prstGeom prst="roundRect">
            <a:avLst>
              <a:gd name="adj" fmla="val 9806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Local LMIS</a:t>
            </a:r>
            <a:endParaRPr lang="en-GB" sz="1000" dirty="0">
              <a:solidFill>
                <a:schemeClr val="tx1"/>
              </a:solidFill>
              <a:latin typeface="Garamond" panose="02020404030301010803" pitchFamily="18" charset="0"/>
              <a:cs typeface="Assistant ExtraBold" pitchFamily="2" charset="-79"/>
            </a:endParaRPr>
          </a:p>
        </p:txBody>
      </p:sp>
      <p:sp>
        <p:nvSpPr>
          <p:cNvPr id="282" name="Rectangle: Rounded Corners 281">
            <a:extLst>
              <a:ext uri="{FF2B5EF4-FFF2-40B4-BE49-F238E27FC236}">
                <a16:creationId xmlns:a16="http://schemas.microsoft.com/office/drawing/2014/main" id="{976B7A88-91A4-4BFB-E230-B2AE4732D37F}"/>
              </a:ext>
            </a:extLst>
          </p:cNvPr>
          <p:cNvSpPr/>
          <p:nvPr/>
        </p:nvSpPr>
        <p:spPr>
          <a:xfrm>
            <a:off x="1829074" y="2109998"/>
            <a:ext cx="1857485" cy="1272276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DHIS2 Climate App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Rainfall (lagged)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Temperature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Climate anomalies (ENSO, PDSI)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Harmonisation with admin/ health facility boundaries</a:t>
            </a:r>
          </a:p>
        </p:txBody>
      </p: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DAFD2B73-0227-E649-39DD-596C55716D3F}"/>
              </a:ext>
            </a:extLst>
          </p:cNvPr>
          <p:cNvSpPr/>
          <p:nvPr/>
        </p:nvSpPr>
        <p:spPr>
          <a:xfrm>
            <a:off x="36313" y="145742"/>
            <a:ext cx="1299300" cy="472916"/>
          </a:xfrm>
          <a:prstGeom prst="roundRect">
            <a:avLst>
              <a:gd name="adj" fmla="val 9806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Local Stakeholder Inputs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D7CC7453-3F70-07F2-9207-128B7CD8876A}"/>
              </a:ext>
            </a:extLst>
          </p:cNvPr>
          <p:cNvCxnSpPr>
            <a:cxnSpLocks/>
            <a:stCxn id="294" idx="3"/>
            <a:endCxn id="293" idx="1"/>
          </p:cNvCxnSpPr>
          <p:nvPr/>
        </p:nvCxnSpPr>
        <p:spPr>
          <a:xfrm flipV="1">
            <a:off x="1335612" y="4679556"/>
            <a:ext cx="493461" cy="16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Rectangle: Rounded Corners 284">
            <a:extLst>
              <a:ext uri="{FF2B5EF4-FFF2-40B4-BE49-F238E27FC236}">
                <a16:creationId xmlns:a16="http://schemas.microsoft.com/office/drawing/2014/main" id="{ABD8A96D-431B-779D-8381-EDDFACAEB0FD}"/>
              </a:ext>
            </a:extLst>
          </p:cNvPr>
          <p:cNvSpPr/>
          <p:nvPr/>
        </p:nvSpPr>
        <p:spPr>
          <a:xfrm>
            <a:off x="1829074" y="528420"/>
            <a:ext cx="1857485" cy="1362774"/>
          </a:xfrm>
          <a:prstGeom prst="roundRect">
            <a:avLst>
              <a:gd name="adj" fmla="val 630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Pre-processing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Fill gaps using 0 or NA depending on domain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Detect structural zeros (e.g., service interruptions)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Define supply chain covariates</a:t>
            </a:r>
          </a:p>
        </p:txBody>
      </p:sp>
      <p:cxnSp>
        <p:nvCxnSpPr>
          <p:cNvPr id="287" name="Connector: Elbow 286">
            <a:extLst>
              <a:ext uri="{FF2B5EF4-FFF2-40B4-BE49-F238E27FC236}">
                <a16:creationId xmlns:a16="http://schemas.microsoft.com/office/drawing/2014/main" id="{B633CF14-8428-ECBD-EFD8-3A2D297AC2C6}"/>
              </a:ext>
            </a:extLst>
          </p:cNvPr>
          <p:cNvCxnSpPr>
            <a:cxnSpLocks/>
            <a:stCxn id="280" idx="3"/>
            <a:endCxn id="285" idx="1"/>
          </p:cNvCxnSpPr>
          <p:nvPr/>
        </p:nvCxnSpPr>
        <p:spPr>
          <a:xfrm>
            <a:off x="1335613" y="898368"/>
            <a:ext cx="493461" cy="31143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: Elbow 287">
            <a:extLst>
              <a:ext uri="{FF2B5EF4-FFF2-40B4-BE49-F238E27FC236}">
                <a16:creationId xmlns:a16="http://schemas.microsoft.com/office/drawing/2014/main" id="{7EEA145B-FAEA-20FA-A490-773C7D779D17}"/>
              </a:ext>
            </a:extLst>
          </p:cNvPr>
          <p:cNvCxnSpPr>
            <a:cxnSpLocks/>
            <a:stCxn id="279" idx="3"/>
            <a:endCxn id="282" idx="1"/>
          </p:cNvCxnSpPr>
          <p:nvPr/>
        </p:nvCxnSpPr>
        <p:spPr>
          <a:xfrm>
            <a:off x="1335613" y="1901567"/>
            <a:ext cx="493461" cy="84456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Rectangle: Rounded Corners 288">
            <a:extLst>
              <a:ext uri="{FF2B5EF4-FFF2-40B4-BE49-F238E27FC236}">
                <a16:creationId xmlns:a16="http://schemas.microsoft.com/office/drawing/2014/main" id="{5413FC27-D79B-EE37-63CC-0845BB63B801}"/>
              </a:ext>
            </a:extLst>
          </p:cNvPr>
          <p:cNvSpPr/>
          <p:nvPr/>
        </p:nvSpPr>
        <p:spPr>
          <a:xfrm>
            <a:off x="3945463" y="2527299"/>
            <a:ext cx="1857485" cy="858799"/>
          </a:xfrm>
          <a:prstGeom prst="roundRect">
            <a:avLst>
              <a:gd name="adj" fmla="val 5246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Data Harmonization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Harmonised covariates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Metadata JSON per series (product master and location master)</a:t>
            </a:r>
          </a:p>
        </p:txBody>
      </p: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8E54B7EA-588B-3A74-F318-81B42D8E4430}"/>
              </a:ext>
            </a:extLst>
          </p:cNvPr>
          <p:cNvCxnSpPr>
            <a:cxnSpLocks/>
          </p:cNvCxnSpPr>
          <p:nvPr/>
        </p:nvCxnSpPr>
        <p:spPr>
          <a:xfrm>
            <a:off x="3686559" y="2943357"/>
            <a:ext cx="2589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2636EB6B-9E3E-A517-3D2D-A12B8F3839EC}"/>
              </a:ext>
            </a:extLst>
          </p:cNvPr>
          <p:cNvCxnSpPr>
            <a:cxnSpLocks/>
            <a:stCxn id="278" idx="2"/>
            <a:endCxn id="289" idx="0"/>
          </p:cNvCxnSpPr>
          <p:nvPr/>
        </p:nvCxnSpPr>
        <p:spPr>
          <a:xfrm>
            <a:off x="4874206" y="2302525"/>
            <a:ext cx="0" cy="2247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Rectangle: Rounded Corners 292">
            <a:extLst>
              <a:ext uri="{FF2B5EF4-FFF2-40B4-BE49-F238E27FC236}">
                <a16:creationId xmlns:a16="http://schemas.microsoft.com/office/drawing/2014/main" id="{6F8002C1-28CC-B45F-AEC7-26E908782A44}"/>
              </a:ext>
            </a:extLst>
          </p:cNvPr>
          <p:cNvSpPr/>
          <p:nvPr/>
        </p:nvSpPr>
        <p:spPr>
          <a:xfrm>
            <a:off x="1829073" y="4229461"/>
            <a:ext cx="1857485" cy="900190"/>
          </a:xfrm>
          <a:prstGeom prst="roundRect">
            <a:avLst>
              <a:gd name="adj" fmla="val 630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Model Registry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Model components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Model configuration (YAML)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Define adopters for covariates</a:t>
            </a:r>
          </a:p>
        </p:txBody>
      </p:sp>
      <p:sp>
        <p:nvSpPr>
          <p:cNvPr id="294" name="Rectangle: Rounded Corners 293">
            <a:extLst>
              <a:ext uri="{FF2B5EF4-FFF2-40B4-BE49-F238E27FC236}">
                <a16:creationId xmlns:a16="http://schemas.microsoft.com/office/drawing/2014/main" id="{1A73830B-B5A0-D821-3EF5-9DA484904986}"/>
              </a:ext>
            </a:extLst>
          </p:cNvPr>
          <p:cNvSpPr/>
          <p:nvPr/>
        </p:nvSpPr>
        <p:spPr>
          <a:xfrm>
            <a:off x="36313" y="4229461"/>
            <a:ext cx="1299299" cy="903402"/>
          </a:xfrm>
          <a:prstGeom prst="roundRect">
            <a:avLst>
              <a:gd name="adj" fmla="val 69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Modelling App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Internal model developers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Local/ external model developers</a:t>
            </a:r>
          </a:p>
        </p:txBody>
      </p:sp>
      <p:sp>
        <p:nvSpPr>
          <p:cNvPr id="295" name="Rectangle: Rounded Corners 294">
            <a:extLst>
              <a:ext uri="{FF2B5EF4-FFF2-40B4-BE49-F238E27FC236}">
                <a16:creationId xmlns:a16="http://schemas.microsoft.com/office/drawing/2014/main" id="{B9B6D88A-4735-AB20-75DB-5FB578A7799D}"/>
              </a:ext>
            </a:extLst>
          </p:cNvPr>
          <p:cNvSpPr/>
          <p:nvPr/>
        </p:nvSpPr>
        <p:spPr>
          <a:xfrm>
            <a:off x="1829073" y="5338451"/>
            <a:ext cx="1857485" cy="900188"/>
          </a:xfrm>
          <a:prstGeom prst="roundRect">
            <a:avLst>
              <a:gd name="adj" fmla="val 630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Model Training/ Initialisation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Load configuration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Check covariate availability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Auto-detect failure risk (model failures)</a:t>
            </a:r>
          </a:p>
        </p:txBody>
      </p:sp>
      <p:cxnSp>
        <p:nvCxnSpPr>
          <p:cNvPr id="296" name="Connector: Elbow 295">
            <a:extLst>
              <a:ext uri="{FF2B5EF4-FFF2-40B4-BE49-F238E27FC236}">
                <a16:creationId xmlns:a16="http://schemas.microsoft.com/office/drawing/2014/main" id="{1CD918DC-4D37-8828-0B46-A661017EC680}"/>
              </a:ext>
            </a:extLst>
          </p:cNvPr>
          <p:cNvCxnSpPr>
            <a:cxnSpLocks/>
            <a:stCxn id="294" idx="2"/>
            <a:endCxn id="295" idx="1"/>
          </p:cNvCxnSpPr>
          <p:nvPr/>
        </p:nvCxnSpPr>
        <p:spPr>
          <a:xfrm rot="16200000" flipH="1">
            <a:off x="929677" y="4889149"/>
            <a:ext cx="655682" cy="11431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5E8D5B32-444D-4F08-A225-036C71E43481}"/>
              </a:ext>
            </a:extLst>
          </p:cNvPr>
          <p:cNvCxnSpPr>
            <a:cxnSpLocks/>
            <a:stCxn id="293" idx="2"/>
            <a:endCxn id="295" idx="0"/>
          </p:cNvCxnSpPr>
          <p:nvPr/>
        </p:nvCxnSpPr>
        <p:spPr>
          <a:xfrm>
            <a:off x="2757816" y="5129651"/>
            <a:ext cx="0" cy="2088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Rectangle: Rounded Corners 297">
            <a:extLst>
              <a:ext uri="{FF2B5EF4-FFF2-40B4-BE49-F238E27FC236}">
                <a16:creationId xmlns:a16="http://schemas.microsoft.com/office/drawing/2014/main" id="{04ED53E4-AB4C-6BED-5B90-12EA401CF2D0}"/>
              </a:ext>
            </a:extLst>
          </p:cNvPr>
          <p:cNvSpPr/>
          <p:nvPr/>
        </p:nvSpPr>
        <p:spPr>
          <a:xfrm>
            <a:off x="4136418" y="5893311"/>
            <a:ext cx="1666528" cy="341881"/>
          </a:xfrm>
          <a:prstGeom prst="roundRect">
            <a:avLst>
              <a:gd name="adj" fmla="val 699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Climate-disease Models</a:t>
            </a:r>
          </a:p>
        </p:txBody>
      </p:sp>
      <p:sp>
        <p:nvSpPr>
          <p:cNvPr id="299" name="Rectangle: Rounded Corners 298">
            <a:extLst>
              <a:ext uri="{FF2B5EF4-FFF2-40B4-BE49-F238E27FC236}">
                <a16:creationId xmlns:a16="http://schemas.microsoft.com/office/drawing/2014/main" id="{49B87775-1D68-8764-4629-CF199AE1B0CA}"/>
              </a:ext>
            </a:extLst>
          </p:cNvPr>
          <p:cNvSpPr/>
          <p:nvPr/>
        </p:nvSpPr>
        <p:spPr>
          <a:xfrm>
            <a:off x="4136418" y="4626479"/>
            <a:ext cx="1666528" cy="895585"/>
          </a:xfrm>
          <a:prstGeom prst="roundRect">
            <a:avLst>
              <a:gd name="adj" fmla="val 699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Supply Chain Demand Forecasting Models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Point forecast evaluation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Probabilistic forecast evaluation</a:t>
            </a:r>
          </a:p>
        </p:txBody>
      </p:sp>
      <p:cxnSp>
        <p:nvCxnSpPr>
          <p:cNvPr id="300" name="Connector: Elbow 299">
            <a:extLst>
              <a:ext uri="{FF2B5EF4-FFF2-40B4-BE49-F238E27FC236}">
                <a16:creationId xmlns:a16="http://schemas.microsoft.com/office/drawing/2014/main" id="{DA0A4B2D-408E-B3AE-F35A-D904CA99D4E8}"/>
              </a:ext>
            </a:extLst>
          </p:cNvPr>
          <p:cNvCxnSpPr>
            <a:cxnSpLocks/>
            <a:stCxn id="294" idx="2"/>
            <a:endCxn id="298" idx="2"/>
          </p:cNvCxnSpPr>
          <p:nvPr/>
        </p:nvCxnSpPr>
        <p:spPr>
          <a:xfrm rot="16200000" flipH="1">
            <a:off x="2276658" y="3542167"/>
            <a:ext cx="1102329" cy="4283719"/>
          </a:xfrm>
          <a:prstGeom prst="bentConnector3">
            <a:avLst>
              <a:gd name="adj1" fmla="val 1929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Rectangle 300">
            <a:extLst>
              <a:ext uri="{FF2B5EF4-FFF2-40B4-BE49-F238E27FC236}">
                <a16:creationId xmlns:a16="http://schemas.microsoft.com/office/drawing/2014/main" id="{E70E6B1F-7DE9-8314-4C58-2414309E41CD}"/>
              </a:ext>
            </a:extLst>
          </p:cNvPr>
          <p:cNvSpPr/>
          <p:nvPr/>
        </p:nvSpPr>
        <p:spPr>
          <a:xfrm>
            <a:off x="4221071" y="6653965"/>
            <a:ext cx="1480536" cy="4487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Garamond" panose="02020404030301010803" pitchFamily="18" charset="0"/>
              </a:rPr>
              <a:t>Automated and manual parameter tuning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689B4A57-81E0-9319-3D87-8693A1815537}"/>
              </a:ext>
            </a:extLst>
          </p:cNvPr>
          <p:cNvSpPr/>
          <p:nvPr/>
        </p:nvSpPr>
        <p:spPr>
          <a:xfrm>
            <a:off x="7358664" y="7124038"/>
            <a:ext cx="2033758" cy="3606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Garamond" panose="02020404030301010803" pitchFamily="18" charset="0"/>
              </a:rPr>
              <a:t>Preference learning for automated parameter optimisation</a:t>
            </a:r>
          </a:p>
        </p:txBody>
      </p:sp>
      <p:cxnSp>
        <p:nvCxnSpPr>
          <p:cNvPr id="303" name="Connector: Elbow 302">
            <a:extLst>
              <a:ext uri="{FF2B5EF4-FFF2-40B4-BE49-F238E27FC236}">
                <a16:creationId xmlns:a16="http://schemas.microsoft.com/office/drawing/2014/main" id="{E2CB9042-51BD-CF48-5D98-A8F74C17B9EE}"/>
              </a:ext>
            </a:extLst>
          </p:cNvPr>
          <p:cNvCxnSpPr>
            <a:cxnSpLocks/>
            <a:stCxn id="295" idx="3"/>
            <a:endCxn id="299" idx="1"/>
          </p:cNvCxnSpPr>
          <p:nvPr/>
        </p:nvCxnSpPr>
        <p:spPr>
          <a:xfrm flipV="1">
            <a:off x="3686558" y="5074272"/>
            <a:ext cx="449860" cy="7142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: Elbow 303">
            <a:extLst>
              <a:ext uri="{FF2B5EF4-FFF2-40B4-BE49-F238E27FC236}">
                <a16:creationId xmlns:a16="http://schemas.microsoft.com/office/drawing/2014/main" id="{2864DF40-480C-9F3A-3027-42FD2B68EE8E}"/>
              </a:ext>
            </a:extLst>
          </p:cNvPr>
          <p:cNvCxnSpPr>
            <a:cxnSpLocks/>
            <a:stCxn id="295" idx="3"/>
            <a:endCxn id="298" idx="1"/>
          </p:cNvCxnSpPr>
          <p:nvPr/>
        </p:nvCxnSpPr>
        <p:spPr>
          <a:xfrm>
            <a:off x="3686558" y="5788545"/>
            <a:ext cx="449860" cy="27570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Rectangle: Rounded Corners 305">
            <a:extLst>
              <a:ext uri="{FF2B5EF4-FFF2-40B4-BE49-F238E27FC236}">
                <a16:creationId xmlns:a16="http://schemas.microsoft.com/office/drawing/2014/main" id="{C0299487-8891-65AF-F760-D8883217DA01}"/>
              </a:ext>
            </a:extLst>
          </p:cNvPr>
          <p:cNvSpPr/>
          <p:nvPr/>
        </p:nvSpPr>
        <p:spPr>
          <a:xfrm>
            <a:off x="8126313" y="1564995"/>
            <a:ext cx="1629221" cy="73753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Inventory Policy Registry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Order-up-to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Periodic review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News vendor policy, etc.</a:t>
            </a:r>
          </a:p>
        </p:txBody>
      </p:sp>
      <p:sp>
        <p:nvSpPr>
          <p:cNvPr id="307" name="Rectangle: Rounded Corners 306">
            <a:extLst>
              <a:ext uri="{FF2B5EF4-FFF2-40B4-BE49-F238E27FC236}">
                <a16:creationId xmlns:a16="http://schemas.microsoft.com/office/drawing/2014/main" id="{9DFD093A-CD9A-F67F-372E-4C1D76FDE0C8}"/>
              </a:ext>
            </a:extLst>
          </p:cNvPr>
          <p:cNvSpPr/>
          <p:nvPr/>
        </p:nvSpPr>
        <p:spPr>
          <a:xfrm>
            <a:off x="6398158" y="478781"/>
            <a:ext cx="3357377" cy="889752"/>
          </a:xfrm>
          <a:prstGeom prst="roundRect">
            <a:avLst>
              <a:gd name="adj" fmla="val 630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Predictive sample paths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Quantile thresholds (e.g., q ∈ {0.80, 0.85, 0.90, 0.95, 0.975})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Lead time (e.g., L = 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Review cycle (e.g., monthly)</a:t>
            </a:r>
          </a:p>
        </p:txBody>
      </p: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B4727363-B5D9-8185-EEA3-19CDD32E7401}"/>
              </a:ext>
            </a:extLst>
          </p:cNvPr>
          <p:cNvCxnSpPr>
            <a:cxnSpLocks/>
            <a:endCxn id="307" idx="3"/>
          </p:cNvCxnSpPr>
          <p:nvPr/>
        </p:nvCxnSpPr>
        <p:spPr>
          <a:xfrm flipH="1">
            <a:off x="9755535" y="923657"/>
            <a:ext cx="40052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Rectangle: Rounded Corners 308">
            <a:extLst>
              <a:ext uri="{FF2B5EF4-FFF2-40B4-BE49-F238E27FC236}">
                <a16:creationId xmlns:a16="http://schemas.microsoft.com/office/drawing/2014/main" id="{77E6E010-43DA-E491-9C4C-7827753E8077}"/>
              </a:ext>
            </a:extLst>
          </p:cNvPr>
          <p:cNvSpPr/>
          <p:nvPr/>
        </p:nvSpPr>
        <p:spPr>
          <a:xfrm>
            <a:off x="10156063" y="142356"/>
            <a:ext cx="1886384" cy="1226177"/>
          </a:xfrm>
          <a:prstGeom prst="roundRect">
            <a:avLst>
              <a:gd name="adj" fmla="val 3843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Local Stakeholder/ Implementation Team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Inventory policy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Constraints (e.g., lead time variability, capacity, resource limitations, budget, etc.)</a:t>
            </a:r>
          </a:p>
        </p:txBody>
      </p:sp>
      <p:cxnSp>
        <p:nvCxnSpPr>
          <p:cNvPr id="310" name="Connector: Elbow 309">
            <a:extLst>
              <a:ext uri="{FF2B5EF4-FFF2-40B4-BE49-F238E27FC236}">
                <a16:creationId xmlns:a16="http://schemas.microsoft.com/office/drawing/2014/main" id="{203CB8AF-BD24-2B79-FF86-AE150BD6FD93}"/>
              </a:ext>
            </a:extLst>
          </p:cNvPr>
          <p:cNvCxnSpPr>
            <a:cxnSpLocks/>
            <a:stCxn id="309" idx="2"/>
            <a:endCxn id="306" idx="3"/>
          </p:cNvCxnSpPr>
          <p:nvPr/>
        </p:nvCxnSpPr>
        <p:spPr>
          <a:xfrm rot="5400000">
            <a:off x="10144782" y="979286"/>
            <a:ext cx="565227" cy="134372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90D5B6EB-FB6E-734E-0C30-493ECC329357}"/>
              </a:ext>
            </a:extLst>
          </p:cNvPr>
          <p:cNvSpPr/>
          <p:nvPr/>
        </p:nvSpPr>
        <p:spPr>
          <a:xfrm>
            <a:off x="8126313" y="2665670"/>
            <a:ext cx="1629221" cy="570629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Output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Inventory replenishment order quantity</a:t>
            </a:r>
          </a:p>
        </p:txBody>
      </p:sp>
      <p:sp>
        <p:nvSpPr>
          <p:cNvPr id="312" name="Rectangle: Rounded Corners 311">
            <a:extLst>
              <a:ext uri="{FF2B5EF4-FFF2-40B4-BE49-F238E27FC236}">
                <a16:creationId xmlns:a16="http://schemas.microsoft.com/office/drawing/2014/main" id="{88A06320-E294-ABD1-AF5D-4C96DC1EB3E8}"/>
              </a:ext>
            </a:extLst>
          </p:cNvPr>
          <p:cNvSpPr/>
          <p:nvPr/>
        </p:nvSpPr>
        <p:spPr>
          <a:xfrm>
            <a:off x="10156063" y="2042665"/>
            <a:ext cx="1886384" cy="1044932"/>
          </a:xfrm>
          <a:prstGeom prst="roundRect">
            <a:avLst>
              <a:gd name="adj" fmla="val 731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Decision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Inventory replenishment order quantity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Feedback/ comments on emergency over-rides</a:t>
            </a:r>
          </a:p>
        </p:txBody>
      </p: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B61F3CE3-547C-50CE-3B9F-9810B8586E3F}"/>
              </a:ext>
            </a:extLst>
          </p:cNvPr>
          <p:cNvCxnSpPr>
            <a:cxnSpLocks/>
          </p:cNvCxnSpPr>
          <p:nvPr/>
        </p:nvCxnSpPr>
        <p:spPr>
          <a:xfrm flipV="1">
            <a:off x="11350853" y="1368533"/>
            <a:ext cx="0" cy="65500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Rectangle: Rounded Corners 313">
            <a:extLst>
              <a:ext uri="{FF2B5EF4-FFF2-40B4-BE49-F238E27FC236}">
                <a16:creationId xmlns:a16="http://schemas.microsoft.com/office/drawing/2014/main" id="{275654F7-F527-1569-B168-A9A6F9732803}"/>
              </a:ext>
            </a:extLst>
          </p:cNvPr>
          <p:cNvSpPr/>
          <p:nvPr/>
        </p:nvSpPr>
        <p:spPr>
          <a:xfrm>
            <a:off x="6402723" y="1564995"/>
            <a:ext cx="1403710" cy="1092288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KPIs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Cycle service level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Stockout 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Average inventory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Inventory investment ratio</a:t>
            </a:r>
          </a:p>
        </p:txBody>
      </p: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E1F86D12-AF58-CBA4-4881-0A3DB022759A}"/>
              </a:ext>
            </a:extLst>
          </p:cNvPr>
          <p:cNvCxnSpPr>
            <a:cxnSpLocks/>
            <a:stCxn id="306" idx="2"/>
            <a:endCxn id="311" idx="0"/>
          </p:cNvCxnSpPr>
          <p:nvPr/>
        </p:nvCxnSpPr>
        <p:spPr>
          <a:xfrm>
            <a:off x="8940924" y="2302525"/>
            <a:ext cx="0" cy="3631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84745E6A-4539-D9B2-1338-2C588B4CC5AF}"/>
              </a:ext>
            </a:extLst>
          </p:cNvPr>
          <p:cNvCxnSpPr>
            <a:cxnSpLocks/>
            <a:endCxn id="306" idx="0"/>
          </p:cNvCxnSpPr>
          <p:nvPr/>
        </p:nvCxnSpPr>
        <p:spPr>
          <a:xfrm>
            <a:off x="8940924" y="1368533"/>
            <a:ext cx="0" cy="1964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: Elbow 316">
            <a:extLst>
              <a:ext uri="{FF2B5EF4-FFF2-40B4-BE49-F238E27FC236}">
                <a16:creationId xmlns:a16="http://schemas.microsoft.com/office/drawing/2014/main" id="{D57B58E5-1272-E219-B665-5064697AF6CF}"/>
              </a:ext>
            </a:extLst>
          </p:cNvPr>
          <p:cNvCxnSpPr>
            <a:cxnSpLocks/>
            <a:stCxn id="311" idx="1"/>
            <a:endCxn id="314" idx="2"/>
          </p:cNvCxnSpPr>
          <p:nvPr/>
        </p:nvCxnSpPr>
        <p:spPr>
          <a:xfrm rot="10800000">
            <a:off x="7104579" y="2657283"/>
            <a:ext cx="1021735" cy="29370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27A5B936-93FB-929F-BCDA-A9440BB83FE3}"/>
              </a:ext>
            </a:extLst>
          </p:cNvPr>
          <p:cNvCxnSpPr>
            <a:cxnSpLocks/>
            <a:stCxn id="306" idx="1"/>
          </p:cNvCxnSpPr>
          <p:nvPr/>
        </p:nvCxnSpPr>
        <p:spPr>
          <a:xfrm flipH="1">
            <a:off x="7806431" y="1933760"/>
            <a:ext cx="31988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Rectangle: Rounded Corners 319">
            <a:extLst>
              <a:ext uri="{FF2B5EF4-FFF2-40B4-BE49-F238E27FC236}">
                <a16:creationId xmlns:a16="http://schemas.microsoft.com/office/drawing/2014/main" id="{8177698B-41E0-B4E5-0670-B268E19AD4E2}"/>
              </a:ext>
            </a:extLst>
          </p:cNvPr>
          <p:cNvSpPr/>
          <p:nvPr/>
        </p:nvSpPr>
        <p:spPr>
          <a:xfrm>
            <a:off x="6402722" y="4228367"/>
            <a:ext cx="3352810" cy="1125334"/>
          </a:xfrm>
          <a:prstGeom prst="roundRect">
            <a:avLst>
              <a:gd name="adj" fmla="val 263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DHIS2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Access forecasts and inventory replenishment quantities via Modelling App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Store sample paths, quantiles and inventory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Facility-level dashboards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Red-green stock risk classification</a:t>
            </a:r>
          </a:p>
        </p:txBody>
      </p:sp>
      <p:sp>
        <p:nvSpPr>
          <p:cNvPr id="321" name="Rectangle: Rounded Corners 320">
            <a:extLst>
              <a:ext uri="{FF2B5EF4-FFF2-40B4-BE49-F238E27FC236}">
                <a16:creationId xmlns:a16="http://schemas.microsoft.com/office/drawing/2014/main" id="{7AB6E374-3831-7190-05A8-133B45BDEC55}"/>
              </a:ext>
            </a:extLst>
          </p:cNvPr>
          <p:cNvSpPr/>
          <p:nvPr/>
        </p:nvSpPr>
        <p:spPr>
          <a:xfrm>
            <a:off x="6402722" y="5551430"/>
            <a:ext cx="3352812" cy="683762"/>
          </a:xfrm>
          <a:prstGeom prst="roundRect">
            <a:avLst>
              <a:gd name="adj" fmla="val 263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District/National Aggregation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Aggregated forecast dashboards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Inventory forward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Stock redistribution alerts</a:t>
            </a:r>
          </a:p>
        </p:txBody>
      </p:sp>
      <p:sp>
        <p:nvSpPr>
          <p:cNvPr id="322" name="Rectangle: Rounded Corners 321">
            <a:extLst>
              <a:ext uri="{FF2B5EF4-FFF2-40B4-BE49-F238E27FC236}">
                <a16:creationId xmlns:a16="http://schemas.microsoft.com/office/drawing/2014/main" id="{6BCE1AD9-1288-A050-2627-070497DFC9E8}"/>
              </a:ext>
            </a:extLst>
          </p:cNvPr>
          <p:cNvSpPr/>
          <p:nvPr/>
        </p:nvSpPr>
        <p:spPr>
          <a:xfrm>
            <a:off x="10317195" y="3876165"/>
            <a:ext cx="1485599" cy="929079"/>
          </a:xfrm>
          <a:prstGeom prst="roundRect">
            <a:avLst>
              <a:gd name="adj" fmla="val 263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Automated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Monthly job scheduler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Auto-detection of new time 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Auto-refresh of data</a:t>
            </a:r>
          </a:p>
        </p:txBody>
      </p:sp>
      <p:cxnSp>
        <p:nvCxnSpPr>
          <p:cNvPr id="324" name="Connector: Elbow 323">
            <a:extLst>
              <a:ext uri="{FF2B5EF4-FFF2-40B4-BE49-F238E27FC236}">
                <a16:creationId xmlns:a16="http://schemas.microsoft.com/office/drawing/2014/main" id="{DEE18B86-B074-94BE-5FC0-31D3BE7B2DD1}"/>
              </a:ext>
            </a:extLst>
          </p:cNvPr>
          <p:cNvCxnSpPr>
            <a:cxnSpLocks/>
            <a:stCxn id="299" idx="3"/>
            <a:endCxn id="307" idx="1"/>
          </p:cNvCxnSpPr>
          <p:nvPr/>
        </p:nvCxnSpPr>
        <p:spPr>
          <a:xfrm flipV="1">
            <a:off x="5802946" y="923657"/>
            <a:ext cx="595212" cy="415061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Rectangle: Rounded Corners 324">
            <a:extLst>
              <a:ext uri="{FF2B5EF4-FFF2-40B4-BE49-F238E27FC236}">
                <a16:creationId xmlns:a16="http://schemas.microsoft.com/office/drawing/2014/main" id="{50367C18-247D-C604-177F-32BE6178B02C}"/>
              </a:ext>
            </a:extLst>
          </p:cNvPr>
          <p:cNvSpPr/>
          <p:nvPr/>
        </p:nvSpPr>
        <p:spPr>
          <a:xfrm>
            <a:off x="10317195" y="5059345"/>
            <a:ext cx="1485599" cy="1667932"/>
          </a:xfrm>
          <a:prstGeom prst="roundRect">
            <a:avLst>
              <a:gd name="adj" fmla="val 263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Meta Learner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Fallback model selection if null model returns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Learn automated parameter selection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Forecast model classification based on forecast and inventory performance</a:t>
            </a:r>
          </a:p>
        </p:txBody>
      </p:sp>
      <p:cxnSp>
        <p:nvCxnSpPr>
          <p:cNvPr id="326" name="Connector: Elbow 325">
            <a:extLst>
              <a:ext uri="{FF2B5EF4-FFF2-40B4-BE49-F238E27FC236}">
                <a16:creationId xmlns:a16="http://schemas.microsoft.com/office/drawing/2014/main" id="{E20F88E7-AB60-7546-6E70-88F82F3A714C}"/>
              </a:ext>
            </a:extLst>
          </p:cNvPr>
          <p:cNvCxnSpPr>
            <a:cxnSpLocks/>
            <a:stCxn id="311" idx="3"/>
            <a:endCxn id="312" idx="1"/>
          </p:cNvCxnSpPr>
          <p:nvPr/>
        </p:nvCxnSpPr>
        <p:spPr>
          <a:xfrm flipV="1">
            <a:off x="9755534" y="2565131"/>
            <a:ext cx="400529" cy="38585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: Elbow 326">
            <a:extLst>
              <a:ext uri="{FF2B5EF4-FFF2-40B4-BE49-F238E27FC236}">
                <a16:creationId xmlns:a16="http://schemas.microsoft.com/office/drawing/2014/main" id="{16941BB3-041D-F412-31A4-D4C851F98DA6}"/>
              </a:ext>
            </a:extLst>
          </p:cNvPr>
          <p:cNvCxnSpPr>
            <a:cxnSpLocks/>
            <a:stCxn id="299" idx="3"/>
            <a:endCxn id="320" idx="1"/>
          </p:cNvCxnSpPr>
          <p:nvPr/>
        </p:nvCxnSpPr>
        <p:spPr>
          <a:xfrm flipV="1">
            <a:off x="5802946" y="4791034"/>
            <a:ext cx="599776" cy="28323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: Elbow 327">
            <a:extLst>
              <a:ext uri="{FF2B5EF4-FFF2-40B4-BE49-F238E27FC236}">
                <a16:creationId xmlns:a16="http://schemas.microsoft.com/office/drawing/2014/main" id="{7AB74663-95D1-7C15-5C37-EA153964F66F}"/>
              </a:ext>
            </a:extLst>
          </p:cNvPr>
          <p:cNvCxnSpPr>
            <a:cxnSpLocks/>
            <a:stCxn id="311" idx="2"/>
            <a:endCxn id="320" idx="3"/>
          </p:cNvCxnSpPr>
          <p:nvPr/>
        </p:nvCxnSpPr>
        <p:spPr>
          <a:xfrm rot="16200000" flipH="1">
            <a:off x="8570861" y="3606362"/>
            <a:ext cx="1554735" cy="814608"/>
          </a:xfrm>
          <a:prstGeom prst="bentConnector4">
            <a:avLst>
              <a:gd name="adj1" fmla="val 27004"/>
              <a:gd name="adj2" fmla="val 12806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: Elbow 328">
            <a:extLst>
              <a:ext uri="{FF2B5EF4-FFF2-40B4-BE49-F238E27FC236}">
                <a16:creationId xmlns:a16="http://schemas.microsoft.com/office/drawing/2014/main" id="{C282F5C2-76BC-4C8B-CFCE-38A60B2043B8}"/>
              </a:ext>
            </a:extLst>
          </p:cNvPr>
          <p:cNvCxnSpPr>
            <a:cxnSpLocks/>
            <a:stCxn id="325" idx="2"/>
          </p:cNvCxnSpPr>
          <p:nvPr/>
        </p:nvCxnSpPr>
        <p:spPr>
          <a:xfrm rot="5400000" flipH="1">
            <a:off x="5300026" y="967308"/>
            <a:ext cx="2289016" cy="9230922"/>
          </a:xfrm>
          <a:prstGeom prst="bentConnector4">
            <a:avLst>
              <a:gd name="adj1" fmla="val -37728"/>
              <a:gd name="adj2" fmla="val 103185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: Elbow 343">
            <a:extLst>
              <a:ext uri="{FF2B5EF4-FFF2-40B4-BE49-F238E27FC236}">
                <a16:creationId xmlns:a16="http://schemas.microsoft.com/office/drawing/2014/main" id="{25BCA7F4-D0F5-BDD0-96EF-EB5FC599594F}"/>
              </a:ext>
            </a:extLst>
          </p:cNvPr>
          <p:cNvCxnSpPr>
            <a:cxnSpLocks/>
          </p:cNvCxnSpPr>
          <p:nvPr/>
        </p:nvCxnSpPr>
        <p:spPr>
          <a:xfrm rot="10800000" flipV="1">
            <a:off x="9755533" y="4560840"/>
            <a:ext cx="561663" cy="450329"/>
          </a:xfrm>
          <a:prstGeom prst="bentConnector3">
            <a:avLst>
              <a:gd name="adj1" fmla="val 593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: Elbow 358">
            <a:extLst>
              <a:ext uri="{FF2B5EF4-FFF2-40B4-BE49-F238E27FC236}">
                <a16:creationId xmlns:a16="http://schemas.microsoft.com/office/drawing/2014/main" id="{F4DE2DC1-7365-2F90-999B-3C417E6F547C}"/>
              </a:ext>
            </a:extLst>
          </p:cNvPr>
          <p:cNvCxnSpPr>
            <a:cxnSpLocks/>
            <a:stCxn id="283" idx="3"/>
            <a:endCxn id="285" idx="0"/>
          </p:cNvCxnSpPr>
          <p:nvPr/>
        </p:nvCxnSpPr>
        <p:spPr>
          <a:xfrm>
            <a:off x="1335613" y="382200"/>
            <a:ext cx="1422204" cy="146220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: Elbow 363">
            <a:extLst>
              <a:ext uri="{FF2B5EF4-FFF2-40B4-BE49-F238E27FC236}">
                <a16:creationId xmlns:a16="http://schemas.microsoft.com/office/drawing/2014/main" id="{80FC63EA-39DE-13DD-750B-6F26DD1733BF}"/>
              </a:ext>
            </a:extLst>
          </p:cNvPr>
          <p:cNvCxnSpPr>
            <a:cxnSpLocks/>
            <a:stCxn id="312" idx="3"/>
            <a:endCxn id="325" idx="3"/>
          </p:cNvCxnSpPr>
          <p:nvPr/>
        </p:nvCxnSpPr>
        <p:spPr>
          <a:xfrm flipH="1">
            <a:off x="11802794" y="2565131"/>
            <a:ext cx="239653" cy="3328180"/>
          </a:xfrm>
          <a:prstGeom prst="bentConnector3">
            <a:avLst>
              <a:gd name="adj1" fmla="val -31796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: Elbow 367">
            <a:extLst>
              <a:ext uri="{FF2B5EF4-FFF2-40B4-BE49-F238E27FC236}">
                <a16:creationId xmlns:a16="http://schemas.microsoft.com/office/drawing/2014/main" id="{56ACAB4B-7900-AA8D-FB41-36C906D10FD5}"/>
              </a:ext>
            </a:extLst>
          </p:cNvPr>
          <p:cNvCxnSpPr>
            <a:cxnSpLocks/>
            <a:stCxn id="289" idx="2"/>
            <a:endCxn id="293" idx="0"/>
          </p:cNvCxnSpPr>
          <p:nvPr/>
        </p:nvCxnSpPr>
        <p:spPr>
          <a:xfrm rot="5400000">
            <a:off x="3394330" y="2749584"/>
            <a:ext cx="843363" cy="2116390"/>
          </a:xfrm>
          <a:prstGeom prst="bentConnector3">
            <a:avLst>
              <a:gd name="adj1" fmla="val 3293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3" name="Rectangle: Rounded Corners 392">
            <a:extLst>
              <a:ext uri="{FF2B5EF4-FFF2-40B4-BE49-F238E27FC236}">
                <a16:creationId xmlns:a16="http://schemas.microsoft.com/office/drawing/2014/main" id="{6FE6E4CB-CD9B-84AE-359D-C006D68B358C}"/>
              </a:ext>
            </a:extLst>
          </p:cNvPr>
          <p:cNvSpPr/>
          <p:nvPr/>
        </p:nvSpPr>
        <p:spPr>
          <a:xfrm>
            <a:off x="1829073" y="6445016"/>
            <a:ext cx="1857485" cy="688273"/>
          </a:xfrm>
          <a:prstGeom prst="roundRect">
            <a:avLst>
              <a:gd name="adj" fmla="val 630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b="1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Model Scalability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Parallel execution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Distributed 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/>
                </a:solidFill>
                <a:latin typeface="Garamond" panose="02020404030301010803" pitchFamily="18" charset="0"/>
                <a:cs typeface="Assistant ExtraBold" pitchFamily="2" charset="-79"/>
              </a:rPr>
              <a:t>Memory-efficient sampling</a:t>
            </a: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9FE2989E-1E3C-0AEF-3B14-A463D07C13F6}"/>
              </a:ext>
            </a:extLst>
          </p:cNvPr>
          <p:cNvCxnSpPr>
            <a:cxnSpLocks/>
            <a:endCxn id="295" idx="2"/>
          </p:cNvCxnSpPr>
          <p:nvPr/>
        </p:nvCxnSpPr>
        <p:spPr>
          <a:xfrm flipV="1">
            <a:off x="2757816" y="6238639"/>
            <a:ext cx="0" cy="1841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1372C92-B89C-83A3-F09F-84F15C5D4185}"/>
              </a:ext>
            </a:extLst>
          </p:cNvPr>
          <p:cNvCxnSpPr>
            <a:cxnSpLocks/>
          </p:cNvCxnSpPr>
          <p:nvPr/>
        </p:nvCxnSpPr>
        <p:spPr>
          <a:xfrm>
            <a:off x="3686559" y="1229855"/>
            <a:ext cx="2589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866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366</TotalTime>
  <Words>507</Words>
  <Application>Microsoft Office PowerPoint</Application>
  <PresentationFormat>Custom</PresentationFormat>
  <Paragraphs>125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Garamond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Halgamuwe Hewage</dc:creator>
  <cp:lastModifiedBy>Harsha Halgamuwe Hewage</cp:lastModifiedBy>
  <cp:revision>13</cp:revision>
  <dcterms:created xsi:type="dcterms:W3CDTF">2025-10-28T08:26:32Z</dcterms:created>
  <dcterms:modified xsi:type="dcterms:W3CDTF">2025-11-26T11:47:28Z</dcterms:modified>
</cp:coreProperties>
</file>