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E1F0-87FF-B52B-492A-BBB43723C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4DD62-A42D-FD92-FFCD-D0F88E1FB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AD905-571E-36B4-CF89-449D63B41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8ADE2-8E3A-84CA-87D9-6A7F517A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7BF6E-7E21-BDD6-C96E-BE58D8E72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536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C5892-5601-039D-146E-0525AB4C8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0A0A2-2A82-1214-D3C2-7F74B2287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369B1-1D58-FAFF-C369-DAFF7F27E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6576C-5455-235E-DEB9-E2AB077D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2EA77-A4A8-6042-3C8D-6A53A0EC6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3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8861D-2F6E-AF93-94A9-5088787A7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0E7D2-013F-BC25-BDBE-27D6179A6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C08E5-55E6-817B-FBE4-37115EBFF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93553-7C76-C622-7D1E-C081F85BA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9925B-D7F0-3DF2-0D6D-DA369554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0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9AC02-D7D7-EE4F-F495-511DA985C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DE6E-83B5-855E-7AD5-33FC3F96B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CEF06-A291-2B00-FA52-E14A987A5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16F06-C0FC-4DCA-15BC-54855EDD7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77DC0-3AD0-F765-EF38-23F2A3D5B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7EA1-122A-2783-37F2-EE1E4DE5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93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DBA7-51F7-532B-E10B-8661AFAA4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58230-C27C-CF1A-842E-64527E8D2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D1A0B5-0CC3-B295-A6BE-0D4A620E8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B2B0E-4143-CEF9-5918-B979413D0E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E6E61-2AAF-E94C-72B1-3CEEE4B1BE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3882D9-E196-D8DD-AFA5-9285AE7C8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4A3085-D17A-6DDE-7DBA-8AA476FB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C54F0-759D-64A7-33E0-CB06A5599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712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AF90-B1B0-2570-30F1-771543E3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20158-AACA-C1BB-8D21-D49FF0FCA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DCE26-61C5-FAD3-B0C5-FB818DBC9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4630F-3D81-EB0C-224B-3FD252DE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298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8288F4-DCFC-EAB9-1E9A-E38C28B98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F79A14-7443-0712-9FC8-F134BC183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EC2BA-BAF3-BE7A-3936-F2A854FE2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4969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6CA63-B70E-365F-B2CF-229674DE1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E96D2-5467-AE8B-D3B4-9A0099B2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FC617C-8CF5-DB6D-028B-C6B3D48776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D9512-3693-68BD-F3EB-364AD8139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D6BAB-A89C-516D-AA37-1B069C00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A7A043-5417-29A9-0D4E-6B0F05864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788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A5AD6-0F79-65CA-A9C5-4E110EE4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71FBFC-C461-276D-E783-70D0A5CF9F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D59ED-A5AE-C07C-55EE-C3F5FEBE6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2E452-F4A3-989C-A60C-457E43778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7C387-74F7-4BFC-46F4-166C02C2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30D36-EA89-0195-DEE1-45A55F029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9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ABC0-8E8A-1ACB-046D-733B320CA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52E59-953D-9360-5269-DC200B83C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E8F9CC-8001-8463-24C9-0E4B22131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20537-39CE-51A3-FB31-A6A3C2DA8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00591-5951-CAF3-FA72-45F8D2C19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29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1275F-15F6-2C51-312C-A8BE920D96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38DB2-3AB5-CED0-9AD6-1F5424C45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DF917-CE56-6267-AC2C-13CD7E780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5DBDA-BB05-E493-AFB3-6445202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073AD-40E0-7E79-C33A-B1BFDAC8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19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8C97D-791D-30CB-3F3F-EDAAC90F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253A7-39A6-9058-E650-0BD733438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E352A-68B7-D0B2-2AC5-C6CFE5435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AD102-BDCF-4801-97FA-52A117991624}" type="datetimeFigureOut">
              <a:rPr lang="en-GB" smtClean="0"/>
              <a:t>05/06/2026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FBB03-7418-1ECD-6BCA-A41C62C49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A0548-2FC6-E1C1-2019-5E89C3BF5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193DD-1F3B-4654-9D64-8FDDD5093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70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376B5CA-22D7-67AF-0A28-84323F00AE9C}"/>
              </a:ext>
            </a:extLst>
          </p:cNvPr>
          <p:cNvGrpSpPr/>
          <p:nvPr/>
        </p:nvGrpSpPr>
        <p:grpSpPr>
          <a:xfrm>
            <a:off x="91923" y="82538"/>
            <a:ext cx="11990009" cy="6665395"/>
            <a:chOff x="91923" y="82538"/>
            <a:chExt cx="11990009" cy="6665395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D6E0C9D-F472-85CD-9CD8-41DEB5CDF148}"/>
                </a:ext>
              </a:extLst>
            </p:cNvPr>
            <p:cNvSpPr/>
            <p:nvPr/>
          </p:nvSpPr>
          <p:spPr>
            <a:xfrm>
              <a:off x="91923" y="4372163"/>
              <a:ext cx="2423138" cy="1194955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Portability domain dataset</a:t>
              </a:r>
              <a:b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</a:br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Multi-domain Public Health Data</a:t>
              </a:r>
              <a:b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</a:br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(Lao PDR)</a:t>
              </a:r>
              <a:br>
                <a:rPr lang="en-GB" sz="120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</a:br>
              <a:r>
                <a:rPr lang="en-GB" sz="1200" b="1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20,736 </a:t>
              </a:r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time series</a:t>
              </a:r>
              <a:endParaRPr lang="en-GB" sz="12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0D61ED7-52F4-DFC1-052E-C5840836EBFA}"/>
                </a:ext>
              </a:extLst>
            </p:cNvPr>
            <p:cNvSpPr/>
            <p:nvPr/>
          </p:nvSpPr>
          <p:spPr>
            <a:xfrm>
              <a:off x="3529012" y="223925"/>
              <a:ext cx="3870574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Model pool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Statistical benchmarks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Candidate Time Series Foundational Models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4E41A15-726E-6698-1B85-DEA423B5F2FE}"/>
                </a:ext>
              </a:extLst>
            </p:cNvPr>
            <p:cNvSpPr/>
            <p:nvPr/>
          </p:nvSpPr>
          <p:spPr>
            <a:xfrm>
              <a:off x="4728316" y="2908574"/>
              <a:ext cx="2671270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Feasible model pool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Statistical benchmarks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Feasible candidate Time Series Foundational Models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44C2BE8-B1BA-A097-6B48-9105D077CFC5}"/>
                </a:ext>
              </a:extLst>
            </p:cNvPr>
            <p:cNvSpPr/>
            <p:nvPr/>
          </p:nvSpPr>
          <p:spPr>
            <a:xfrm>
              <a:off x="2515060" y="2908574"/>
              <a:ext cx="1879371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Excluded unfeasible candidate </a:t>
              </a:r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Time Series Foundational Models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C240ACA-2C5A-1789-9BE4-907057372B74}"/>
                </a:ext>
              </a:extLst>
            </p:cNvPr>
            <p:cNvSpPr/>
            <p:nvPr/>
          </p:nvSpPr>
          <p:spPr>
            <a:xfrm>
              <a:off x="7973969" y="223925"/>
              <a:ext cx="4107963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Forecasting set-up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Forecast horizon = 1 month, 3 months and 6 months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Rolling-origin cross-validation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68B901D-68FB-EBAD-06C5-98079232C2CD}"/>
                </a:ext>
              </a:extLst>
            </p:cNvPr>
            <p:cNvSpPr/>
            <p:nvPr/>
          </p:nvSpPr>
          <p:spPr>
            <a:xfrm>
              <a:off x="7973968" y="2908574"/>
              <a:ext cx="1810444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Point forecast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Root Mean Squared Scaled Error (RMSSE)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29451C7-AD1F-EA8D-6FEB-6C8FE4A4A23B}"/>
                </a:ext>
              </a:extLst>
            </p:cNvPr>
            <p:cNvSpPr/>
            <p:nvPr/>
          </p:nvSpPr>
          <p:spPr>
            <a:xfrm>
              <a:off x="10014164" y="2908574"/>
              <a:ext cx="2067767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Probabilistic forecast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Scaled Pin Ball Loss (</a:t>
              </a:r>
              <a:r>
                <a:rPr lang="en-GB" sz="1200" dirty="0" err="1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sPIN</a:t>
              </a:r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) and mean SPIN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2002951D-C5F8-655E-F79D-B2B8493817CB}"/>
                </a:ext>
              </a:extLst>
            </p:cNvPr>
            <p:cNvSpPr/>
            <p:nvPr/>
          </p:nvSpPr>
          <p:spPr>
            <a:xfrm>
              <a:off x="7973969" y="4372163"/>
              <a:ext cx="4107963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Operational efficiency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Runtime against accuracy measures, execution robustness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EE62309-E8E8-B429-338F-E02C05B78C06}"/>
                </a:ext>
              </a:extLst>
            </p:cNvPr>
            <p:cNvSpPr/>
            <p:nvPr/>
          </p:nvSpPr>
          <p:spPr>
            <a:xfrm>
              <a:off x="4728316" y="4372163"/>
              <a:ext cx="2671270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Update model pool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Statistical benchmarks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Best performing Time Series Foundational Models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315EC390-050C-E1DB-3460-30227B0DC745}"/>
                </a:ext>
              </a:extLst>
            </p:cNvPr>
            <p:cNvSpPr/>
            <p:nvPr/>
          </p:nvSpPr>
          <p:spPr>
            <a:xfrm>
              <a:off x="91923" y="5835752"/>
              <a:ext cx="7307663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Scalability and portability assessment 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Tests whether model performance generalises to a larger and more diverse public health forecasting environment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3CA90A51-B5D6-B26C-8F22-804C4E536662}"/>
                </a:ext>
              </a:extLst>
            </p:cNvPr>
            <p:cNvSpPr/>
            <p:nvPr/>
          </p:nvSpPr>
          <p:spPr>
            <a:xfrm>
              <a:off x="7973968" y="5835752"/>
              <a:ext cx="4107963" cy="912181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Operational guidelines and model selection</a:t>
              </a:r>
            </a:p>
            <a:p>
              <a:pPr algn="ctr"/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Actionable recommendations for public health decision-makers based on: Accuracy, Portability, Runtime, Operational feasibility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6E1CFDF0-947E-22E5-D741-8265C25FBDE1}"/>
                </a:ext>
              </a:extLst>
            </p:cNvPr>
            <p:cNvCxnSpPr>
              <a:cxnSpLocks/>
              <a:endCxn id="8" idx="1"/>
            </p:cNvCxnSpPr>
            <p:nvPr/>
          </p:nvCxnSpPr>
          <p:spPr>
            <a:xfrm flipV="1">
              <a:off x="2515060" y="680015"/>
              <a:ext cx="1013952" cy="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Elbow 27">
              <a:extLst>
                <a:ext uri="{FF2B5EF4-FFF2-40B4-BE49-F238E27FC236}">
                  <a16:creationId xmlns:a16="http://schemas.microsoft.com/office/drawing/2014/main" id="{95F65A6A-BA86-67C7-0C21-567F17BAB8B2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 rot="16200000" flipH="1">
              <a:off x="4877891" y="1722513"/>
              <a:ext cx="1772468" cy="59965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C86FB320-DB57-FC41-025B-FC8030E90ACA}"/>
                </a:ext>
              </a:extLst>
            </p:cNvPr>
            <p:cNvCxnSpPr>
              <a:cxnSpLocks/>
              <a:stCxn id="8" idx="2"/>
              <a:endCxn id="10" idx="0"/>
            </p:cNvCxnSpPr>
            <p:nvPr/>
          </p:nvCxnSpPr>
          <p:spPr>
            <a:xfrm rot="5400000">
              <a:off x="3573288" y="1017562"/>
              <a:ext cx="1772468" cy="2009554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8269955-CCB2-5F5F-8804-2E095EC1A21E}"/>
                </a:ext>
              </a:extLst>
            </p:cNvPr>
            <p:cNvSpPr txBox="1"/>
            <p:nvPr/>
          </p:nvSpPr>
          <p:spPr>
            <a:xfrm>
              <a:off x="1565018" y="1236006"/>
              <a:ext cx="3835369" cy="57708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n-GB" sz="1050" b="1" dirty="0">
                  <a:latin typeface="Inter" panose="02000503000000020004" pitchFamily="2" charset="0"/>
                  <a:ea typeface="Inter" panose="02000503000000020004" pitchFamily="2" charset="0"/>
                </a:rPr>
                <a:t>Practical Screening</a:t>
              </a:r>
              <a:br>
                <a:rPr lang="en-GB" sz="1050" dirty="0">
                  <a:latin typeface="Inter" panose="02000503000000020004" pitchFamily="2" charset="0"/>
                  <a:ea typeface="Inter" panose="02000503000000020004" pitchFamily="2" charset="0"/>
                </a:rPr>
              </a:br>
              <a:r>
                <a:rPr lang="en-GB" sz="1050" dirty="0">
                  <a:latin typeface="Inter" panose="02000503000000020004" pitchFamily="2" charset="0"/>
                  <a:ea typeface="Inter" panose="02000503000000020004" pitchFamily="2" charset="0"/>
                </a:rPr>
                <a:t>Runtime evaluation, Configuration failure checks, API and implementation constraints</a:t>
              </a: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81854155-75A6-33A9-6DE7-70CA18842EA4}"/>
                </a:ext>
              </a:extLst>
            </p:cNvPr>
            <p:cNvCxnSpPr>
              <a:cxnSpLocks/>
              <a:stCxn id="9" idx="3"/>
              <a:endCxn id="11" idx="1"/>
            </p:cNvCxnSpPr>
            <p:nvPr/>
          </p:nvCxnSpPr>
          <p:spPr>
            <a:xfrm flipV="1">
              <a:off x="7399586" y="680015"/>
              <a:ext cx="574383" cy="2684649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471556C-2C6B-7D0D-E665-B5584028B52E}"/>
                </a:ext>
              </a:extLst>
            </p:cNvPr>
            <p:cNvSpPr/>
            <p:nvPr/>
          </p:nvSpPr>
          <p:spPr>
            <a:xfrm>
              <a:off x="91923" y="82538"/>
              <a:ext cx="2423137" cy="1194955"/>
            </a:xfrm>
            <a:prstGeom prst="roundRect">
              <a:avLst>
                <a:gd name="adj" fmla="val 10361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Focal domain dataset</a:t>
              </a:r>
              <a:b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</a:br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Family Planning e-LMIS Data</a:t>
              </a:r>
              <a:b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</a:br>
              <a: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(Côte d’Ivoire, Lao PDR, Pakistan)</a:t>
              </a:r>
              <a:br>
                <a: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</a:br>
              <a:r>
                <a:rPr lang="en-GB" sz="1200" b="1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rPr>
                <a:t>4,451 time series</a:t>
              </a:r>
              <a:endParaRPr lang="en-GB" sz="1200" dirty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endParaRP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F274EB14-CC90-74AC-5D9C-DAB8654A70FD}"/>
                </a:ext>
              </a:extLst>
            </p:cNvPr>
            <p:cNvCxnSpPr>
              <a:cxnSpLocks/>
              <a:stCxn id="16" idx="1"/>
              <a:endCxn id="19" idx="3"/>
            </p:cNvCxnSpPr>
            <p:nvPr/>
          </p:nvCxnSpPr>
          <p:spPr>
            <a:xfrm flipH="1">
              <a:off x="7399586" y="4828253"/>
              <a:ext cx="57438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: Elbow 44">
              <a:extLst>
                <a:ext uri="{FF2B5EF4-FFF2-40B4-BE49-F238E27FC236}">
                  <a16:creationId xmlns:a16="http://schemas.microsoft.com/office/drawing/2014/main" id="{F5512244-29FA-4772-405C-79A2470C950F}"/>
                </a:ext>
              </a:extLst>
            </p:cNvPr>
            <p:cNvCxnSpPr>
              <a:cxnSpLocks/>
              <a:stCxn id="11" idx="2"/>
              <a:endCxn id="14" idx="0"/>
            </p:cNvCxnSpPr>
            <p:nvPr/>
          </p:nvCxnSpPr>
          <p:spPr>
            <a:xfrm rot="5400000">
              <a:off x="8567337" y="1447960"/>
              <a:ext cx="1772468" cy="1148760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or: Elbow 47">
              <a:extLst>
                <a:ext uri="{FF2B5EF4-FFF2-40B4-BE49-F238E27FC236}">
                  <a16:creationId xmlns:a16="http://schemas.microsoft.com/office/drawing/2014/main" id="{76C54FFB-C0A0-EF59-2B1A-B9D8EA71073D}"/>
                </a:ext>
              </a:extLst>
            </p:cNvPr>
            <p:cNvCxnSpPr>
              <a:cxnSpLocks/>
              <a:stCxn id="11" idx="2"/>
              <a:endCxn id="15" idx="0"/>
            </p:cNvCxnSpPr>
            <p:nvPr/>
          </p:nvCxnSpPr>
          <p:spPr>
            <a:xfrm rot="16200000" flipH="1">
              <a:off x="9651765" y="1512290"/>
              <a:ext cx="1772468" cy="102009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ctor: Elbow 52">
              <a:extLst>
                <a:ext uri="{FF2B5EF4-FFF2-40B4-BE49-F238E27FC236}">
                  <a16:creationId xmlns:a16="http://schemas.microsoft.com/office/drawing/2014/main" id="{56E5698C-BCC2-4938-1A17-3A0C434559EE}"/>
                </a:ext>
              </a:extLst>
            </p:cNvPr>
            <p:cNvCxnSpPr>
              <a:cxnSpLocks/>
              <a:stCxn id="4" idx="3"/>
              <a:endCxn id="20" idx="0"/>
            </p:cNvCxnSpPr>
            <p:nvPr/>
          </p:nvCxnSpPr>
          <p:spPr>
            <a:xfrm>
              <a:off x="2515061" y="4969641"/>
              <a:ext cx="1230693" cy="86611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Connector: Elbow 55">
              <a:extLst>
                <a:ext uri="{FF2B5EF4-FFF2-40B4-BE49-F238E27FC236}">
                  <a16:creationId xmlns:a16="http://schemas.microsoft.com/office/drawing/2014/main" id="{BC659EE5-5C67-D4C5-2601-4A1A42798FE9}"/>
                </a:ext>
              </a:extLst>
            </p:cNvPr>
            <p:cNvCxnSpPr>
              <a:cxnSpLocks/>
              <a:stCxn id="15" idx="2"/>
              <a:endCxn id="16" idx="0"/>
            </p:cNvCxnSpPr>
            <p:nvPr/>
          </p:nvCxnSpPr>
          <p:spPr>
            <a:xfrm rot="5400000">
              <a:off x="10262295" y="3586411"/>
              <a:ext cx="551409" cy="1020097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5D5130E3-D5DA-1695-EBFF-B39A77ED9815}"/>
                </a:ext>
              </a:extLst>
            </p:cNvPr>
            <p:cNvCxnSpPr>
              <a:cxnSpLocks/>
              <a:stCxn id="19" idx="1"/>
              <a:endCxn id="20" idx="0"/>
            </p:cNvCxnSpPr>
            <p:nvPr/>
          </p:nvCxnSpPr>
          <p:spPr>
            <a:xfrm rot="10800000" flipV="1">
              <a:off x="3745754" y="4828253"/>
              <a:ext cx="982561" cy="100749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B4B3EAD1-6710-DD18-8D02-B980ED762BB3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>
              <a:off x="7399586" y="6291843"/>
              <a:ext cx="57438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Connector: Elbow 1">
              <a:extLst>
                <a:ext uri="{FF2B5EF4-FFF2-40B4-BE49-F238E27FC236}">
                  <a16:creationId xmlns:a16="http://schemas.microsoft.com/office/drawing/2014/main" id="{03ED1DCC-B761-EF43-D3D5-2AFC2970245C}"/>
                </a:ext>
              </a:extLst>
            </p:cNvPr>
            <p:cNvCxnSpPr>
              <a:cxnSpLocks/>
              <a:stCxn id="14" idx="2"/>
              <a:endCxn id="16" idx="0"/>
            </p:cNvCxnSpPr>
            <p:nvPr/>
          </p:nvCxnSpPr>
          <p:spPr>
            <a:xfrm rot="16200000" flipH="1">
              <a:off x="9177866" y="3522078"/>
              <a:ext cx="551408" cy="114876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1460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EC793-49CF-42C2-821E-7C9AA27E8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DF5706F-5793-E7FB-38EE-449CD678D51D}"/>
              </a:ext>
            </a:extLst>
          </p:cNvPr>
          <p:cNvGrpSpPr/>
          <p:nvPr/>
        </p:nvGrpSpPr>
        <p:grpSpPr>
          <a:xfrm>
            <a:off x="91923" y="82538"/>
            <a:ext cx="11990009" cy="6665395"/>
            <a:chOff x="91923" y="82538"/>
            <a:chExt cx="11990009" cy="666539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40D6DF9-5C52-7354-84EF-0832E87EDD37}"/>
                </a:ext>
              </a:extLst>
            </p:cNvPr>
            <p:cNvGrpSpPr/>
            <p:nvPr/>
          </p:nvGrpSpPr>
          <p:grpSpPr>
            <a:xfrm>
              <a:off x="91923" y="82538"/>
              <a:ext cx="11990009" cy="6665395"/>
              <a:chOff x="91923" y="82538"/>
              <a:chExt cx="11990009" cy="6665395"/>
            </a:xfrm>
          </p:grpSpPr>
          <p:sp>
            <p:nvSpPr>
              <p:cNvPr id="4" name="Rectangle: Rounded Corners 3">
                <a:extLst>
                  <a:ext uri="{FF2B5EF4-FFF2-40B4-BE49-F238E27FC236}">
                    <a16:creationId xmlns:a16="http://schemas.microsoft.com/office/drawing/2014/main" id="{5055294D-2BE8-A71B-E6E2-036B0EB1D7A0}"/>
                  </a:ext>
                </a:extLst>
              </p:cNvPr>
              <p:cNvSpPr/>
              <p:nvPr/>
            </p:nvSpPr>
            <p:spPr>
              <a:xfrm>
                <a:off x="91923" y="4372163"/>
                <a:ext cx="2423138" cy="1194955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Portability domain dataset</a:t>
                </a:r>
                <a:b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</a:br>
                <a: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Multi-domain Public Health Data</a:t>
                </a:r>
                <a:b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</a:br>
                <a: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(Lao PDR)</a:t>
                </a:r>
                <a:br>
                  <a:rPr lang="en-GB" sz="120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</a:br>
                <a:r>
                  <a:rPr lang="en-GB" sz="1200" b="1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20,736 </a:t>
                </a:r>
                <a:r>
                  <a:rPr lang="en-GB" sz="1200" b="1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time series</a:t>
                </a:r>
                <a:endParaRPr lang="en-GB" sz="1200" dirty="0">
                  <a:solidFill>
                    <a:schemeClr val="bg1">
                      <a:lumMod val="75000"/>
                    </a:schemeClr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26D64C59-8F2A-3117-406E-8886F62F96F7}"/>
                  </a:ext>
                </a:extLst>
              </p:cNvPr>
              <p:cNvSpPr/>
              <p:nvPr/>
            </p:nvSpPr>
            <p:spPr>
              <a:xfrm>
                <a:off x="3529012" y="223925"/>
                <a:ext cx="3870574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Model pool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Statistical benchmarks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Candidate Time Series Foundational Models</a:t>
                </a:r>
              </a:p>
            </p:txBody>
          </p:sp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9D05D1DF-7DB6-6826-8FC2-A7000D1CAF84}"/>
                  </a:ext>
                </a:extLst>
              </p:cNvPr>
              <p:cNvSpPr/>
              <p:nvPr/>
            </p:nvSpPr>
            <p:spPr>
              <a:xfrm>
                <a:off x="4728316" y="2908574"/>
                <a:ext cx="2671270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Feasible model pool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Statistical benchmarks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Feasible candidate Time Series Foundational Models</a:t>
                </a:r>
              </a:p>
            </p:txBody>
          </p:sp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26030F31-4D08-86AE-EA24-516940CD8D21}"/>
                  </a:ext>
                </a:extLst>
              </p:cNvPr>
              <p:cNvSpPr/>
              <p:nvPr/>
            </p:nvSpPr>
            <p:spPr>
              <a:xfrm>
                <a:off x="2515060" y="2908574"/>
                <a:ext cx="1879371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Excluded unfeasible candidate </a:t>
                </a:r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Time Series Foundational Models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D524D1E6-8F35-348C-1C5A-B14B8B2CF674}"/>
                  </a:ext>
                </a:extLst>
              </p:cNvPr>
              <p:cNvSpPr/>
              <p:nvPr/>
            </p:nvSpPr>
            <p:spPr>
              <a:xfrm>
                <a:off x="7973969" y="223925"/>
                <a:ext cx="4107963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Forecasting set-up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Forecast horizon = </a:t>
                </a:r>
                <a: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1 month</a:t>
                </a:r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, </a:t>
                </a:r>
                <a:r>
                  <a:rPr lang="en-GB" sz="1200" b="1" dirty="0">
                    <a:solidFill>
                      <a:srgbClr val="C00000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3 months </a:t>
                </a:r>
                <a: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and 6 months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Rolling-origin cross-validation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2E5C566A-90D9-A74B-2C0E-976734C925DA}"/>
                  </a:ext>
                </a:extLst>
              </p:cNvPr>
              <p:cNvSpPr/>
              <p:nvPr/>
            </p:nvSpPr>
            <p:spPr>
              <a:xfrm>
                <a:off x="7973968" y="2908574"/>
                <a:ext cx="1810444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Point forecast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Root Mean Squared Scaled Error (RMSSE)</a:t>
                </a: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D23CEBA0-7FD5-7663-9360-1EDB09913BDD}"/>
                  </a:ext>
                </a:extLst>
              </p:cNvPr>
              <p:cNvSpPr/>
              <p:nvPr/>
            </p:nvSpPr>
            <p:spPr>
              <a:xfrm>
                <a:off x="10014164" y="2908574"/>
                <a:ext cx="2067767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Probabilistic forecast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Scaled Pin Ball Loss (</a:t>
                </a:r>
                <a:r>
                  <a:rPr lang="en-GB" sz="1200" dirty="0" err="1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sPIN</a:t>
                </a:r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) and mean SPIN</a:t>
                </a:r>
              </a:p>
            </p:txBody>
          </p:sp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64320672-9CFA-C233-24AD-BA9FD68C77AE}"/>
                  </a:ext>
                </a:extLst>
              </p:cNvPr>
              <p:cNvSpPr/>
              <p:nvPr/>
            </p:nvSpPr>
            <p:spPr>
              <a:xfrm>
                <a:off x="7973969" y="4372163"/>
                <a:ext cx="4107963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Operational efficiency</a:t>
                </a:r>
              </a:p>
              <a:p>
                <a:pPr algn="ctr"/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Runtime against accuracy measures, execution robustness</a:t>
                </a:r>
              </a:p>
            </p:txBody>
          </p:sp>
          <p:sp>
            <p:nvSpPr>
              <p:cNvPr id="19" name="Rectangle: Rounded Corners 18">
                <a:extLst>
                  <a:ext uri="{FF2B5EF4-FFF2-40B4-BE49-F238E27FC236}">
                    <a16:creationId xmlns:a16="http://schemas.microsoft.com/office/drawing/2014/main" id="{D0499E1E-2C59-889F-7C74-BE5788293EC7}"/>
                  </a:ext>
                </a:extLst>
              </p:cNvPr>
              <p:cNvSpPr/>
              <p:nvPr/>
            </p:nvSpPr>
            <p:spPr>
              <a:xfrm>
                <a:off x="4728316" y="4372163"/>
                <a:ext cx="2671270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Update model pool</a:t>
                </a:r>
              </a:p>
              <a:p>
                <a:pPr algn="ctr"/>
                <a: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Statistical benchmarks</a:t>
                </a:r>
              </a:p>
              <a:p>
                <a:pPr algn="ctr"/>
                <a: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Best performing Time Series Foundational Models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B88CD2E2-ECDE-0A92-9E05-E79A319EFA69}"/>
                  </a:ext>
                </a:extLst>
              </p:cNvPr>
              <p:cNvSpPr/>
              <p:nvPr/>
            </p:nvSpPr>
            <p:spPr>
              <a:xfrm>
                <a:off x="91923" y="5835752"/>
                <a:ext cx="7307663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Scalability and portability assessment </a:t>
                </a:r>
              </a:p>
              <a:p>
                <a:pPr algn="ctr"/>
                <a: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Tests whether model performance generalises to a larger and more diverse public health forecasting environment</a:t>
                </a:r>
              </a:p>
            </p:txBody>
          </p:sp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A8E9D2D9-071A-92D6-460E-632CF2615716}"/>
                  </a:ext>
                </a:extLst>
              </p:cNvPr>
              <p:cNvSpPr/>
              <p:nvPr/>
            </p:nvSpPr>
            <p:spPr>
              <a:xfrm>
                <a:off x="7973968" y="5835752"/>
                <a:ext cx="4107963" cy="912181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Operational guidelines and model selection</a:t>
                </a:r>
              </a:p>
              <a:p>
                <a:pPr algn="ctr"/>
                <a:r>
                  <a:rPr lang="en-GB" sz="1200" dirty="0">
                    <a:solidFill>
                      <a:schemeClr val="bg1">
                        <a:lumMod val="75000"/>
                      </a:schemeClr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Actionable recommendations for public health decision-makers based on: Accuracy, Portability, Runtime, Operational feasibility</a:t>
                </a:r>
              </a:p>
            </p:txBody>
          </p: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8B8A2AA9-A423-108A-26DE-9E9ED26CE1FA}"/>
                  </a:ext>
                </a:extLst>
              </p:cNvPr>
              <p:cNvCxnSpPr>
                <a:cxnSpLocks/>
                <a:endCxn id="8" idx="1"/>
              </p:cNvCxnSpPr>
              <p:nvPr/>
            </p:nvCxnSpPr>
            <p:spPr>
              <a:xfrm flipV="1">
                <a:off x="2515060" y="680015"/>
                <a:ext cx="1013952" cy="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nector: Elbow 27">
                <a:extLst>
                  <a:ext uri="{FF2B5EF4-FFF2-40B4-BE49-F238E27FC236}">
                    <a16:creationId xmlns:a16="http://schemas.microsoft.com/office/drawing/2014/main" id="{2ABFEF18-B46A-F628-E6C9-FB1FE818BAC9}"/>
                  </a:ext>
                </a:extLst>
              </p:cNvPr>
              <p:cNvCxnSpPr>
                <a:stCxn id="8" idx="2"/>
                <a:endCxn id="9" idx="0"/>
              </p:cNvCxnSpPr>
              <p:nvPr/>
            </p:nvCxnSpPr>
            <p:spPr>
              <a:xfrm rot="16200000" flipH="1">
                <a:off x="4877891" y="1722513"/>
                <a:ext cx="1772468" cy="599651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or: Elbow 28">
                <a:extLst>
                  <a:ext uri="{FF2B5EF4-FFF2-40B4-BE49-F238E27FC236}">
                    <a16:creationId xmlns:a16="http://schemas.microsoft.com/office/drawing/2014/main" id="{A1CCB5CC-3F0B-9E17-34CF-C334E36E9A7D}"/>
                  </a:ext>
                </a:extLst>
              </p:cNvPr>
              <p:cNvCxnSpPr>
                <a:cxnSpLocks/>
                <a:stCxn id="8" idx="2"/>
                <a:endCxn id="10" idx="0"/>
              </p:cNvCxnSpPr>
              <p:nvPr/>
            </p:nvCxnSpPr>
            <p:spPr>
              <a:xfrm rot="5400000">
                <a:off x="3573288" y="1017562"/>
                <a:ext cx="1772468" cy="2009554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A892112-7D04-8435-A23B-B0E7572DDD00}"/>
                  </a:ext>
                </a:extLst>
              </p:cNvPr>
              <p:cNvSpPr txBox="1"/>
              <p:nvPr/>
            </p:nvSpPr>
            <p:spPr>
              <a:xfrm>
                <a:off x="1565018" y="1236006"/>
                <a:ext cx="3835369" cy="57708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 algn="r"/>
                <a:r>
                  <a:rPr lang="en-GB" sz="1050" b="1" dirty="0">
                    <a:latin typeface="Inter" panose="02000503000000020004" pitchFamily="2" charset="0"/>
                    <a:ea typeface="Inter" panose="02000503000000020004" pitchFamily="2" charset="0"/>
                  </a:rPr>
                  <a:t>Practical Screening</a:t>
                </a:r>
                <a:br>
                  <a:rPr lang="en-GB" sz="1050" dirty="0">
                    <a:latin typeface="Inter" panose="02000503000000020004" pitchFamily="2" charset="0"/>
                    <a:ea typeface="Inter" panose="02000503000000020004" pitchFamily="2" charset="0"/>
                  </a:rPr>
                </a:br>
                <a:r>
                  <a:rPr lang="en-GB" sz="1050" dirty="0">
                    <a:latin typeface="Inter" panose="02000503000000020004" pitchFamily="2" charset="0"/>
                    <a:ea typeface="Inter" panose="02000503000000020004" pitchFamily="2" charset="0"/>
                  </a:rPr>
                  <a:t>Runtime evaluation, Configuration failure checks, API and implementation constraints</a:t>
                </a:r>
              </a:p>
            </p:txBody>
          </p:sp>
          <p:cxnSp>
            <p:nvCxnSpPr>
              <p:cNvPr id="38" name="Connector: Elbow 37">
                <a:extLst>
                  <a:ext uri="{FF2B5EF4-FFF2-40B4-BE49-F238E27FC236}">
                    <a16:creationId xmlns:a16="http://schemas.microsoft.com/office/drawing/2014/main" id="{E4E01D11-02B4-6989-C1DA-50795068293A}"/>
                  </a:ext>
                </a:extLst>
              </p:cNvPr>
              <p:cNvCxnSpPr>
                <a:cxnSpLocks/>
                <a:stCxn id="9" idx="3"/>
                <a:endCxn id="11" idx="1"/>
              </p:cNvCxnSpPr>
              <p:nvPr/>
            </p:nvCxnSpPr>
            <p:spPr>
              <a:xfrm flipV="1">
                <a:off x="7399586" y="680015"/>
                <a:ext cx="574383" cy="2684649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5BDC01EA-7669-F526-2B6C-346B53405F41}"/>
                  </a:ext>
                </a:extLst>
              </p:cNvPr>
              <p:cNvSpPr/>
              <p:nvPr/>
            </p:nvSpPr>
            <p:spPr>
              <a:xfrm>
                <a:off x="91923" y="82538"/>
                <a:ext cx="2423137" cy="1194955"/>
              </a:xfrm>
              <a:prstGeom prst="roundRect">
                <a:avLst>
                  <a:gd name="adj" fmla="val 10361"/>
                </a:avLst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200" b="1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Focal domain dataset</a:t>
                </a:r>
                <a:b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</a:br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Family Planning e-LMIS Data</a:t>
                </a:r>
                <a:b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</a:br>
                <a: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(Côte d’Ivoire, Lao PDR, Pakistan)</a:t>
                </a:r>
                <a:br>
                  <a:rPr lang="en-GB" sz="1200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</a:br>
                <a:r>
                  <a:rPr lang="en-GB" sz="1200" b="1" dirty="0">
                    <a:solidFill>
                      <a:schemeClr val="tx1"/>
                    </a:solidFill>
                    <a:latin typeface="Inter" panose="02000503000000020004" pitchFamily="2" charset="0"/>
                    <a:ea typeface="Inter" panose="02000503000000020004" pitchFamily="2" charset="0"/>
                  </a:rPr>
                  <a:t>4,451 time series</a:t>
                </a:r>
                <a:endParaRPr lang="en-GB" sz="1200" dirty="0">
                  <a:solidFill>
                    <a:schemeClr val="tx1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1B0FC567-BE6B-043F-09CA-CC854EB4646B}"/>
                  </a:ext>
                </a:extLst>
              </p:cNvPr>
              <p:cNvCxnSpPr>
                <a:cxnSpLocks/>
                <a:stCxn id="16" idx="1"/>
                <a:endCxn id="19" idx="3"/>
              </p:cNvCxnSpPr>
              <p:nvPr/>
            </p:nvCxnSpPr>
            <p:spPr>
              <a:xfrm flipH="1">
                <a:off x="7399586" y="4828253"/>
                <a:ext cx="574383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nector: Elbow 44">
                <a:extLst>
                  <a:ext uri="{FF2B5EF4-FFF2-40B4-BE49-F238E27FC236}">
                    <a16:creationId xmlns:a16="http://schemas.microsoft.com/office/drawing/2014/main" id="{BC99B5AC-4F07-AE5F-EA4F-D56582EECF8E}"/>
                  </a:ext>
                </a:extLst>
              </p:cNvPr>
              <p:cNvCxnSpPr>
                <a:cxnSpLocks/>
                <a:stCxn id="11" idx="2"/>
                <a:endCxn id="14" idx="0"/>
              </p:cNvCxnSpPr>
              <p:nvPr/>
            </p:nvCxnSpPr>
            <p:spPr>
              <a:xfrm rot="5400000">
                <a:off x="8567337" y="1447960"/>
                <a:ext cx="1772468" cy="1148760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nector: Elbow 47">
                <a:extLst>
                  <a:ext uri="{FF2B5EF4-FFF2-40B4-BE49-F238E27FC236}">
                    <a16:creationId xmlns:a16="http://schemas.microsoft.com/office/drawing/2014/main" id="{B11A7D4A-6F59-4EC9-763D-266130CDA42C}"/>
                  </a:ext>
                </a:extLst>
              </p:cNvPr>
              <p:cNvCxnSpPr>
                <a:cxnSpLocks/>
                <a:stCxn id="11" idx="2"/>
                <a:endCxn id="15" idx="0"/>
              </p:cNvCxnSpPr>
              <p:nvPr/>
            </p:nvCxnSpPr>
            <p:spPr>
              <a:xfrm rot="16200000" flipH="1">
                <a:off x="9651765" y="1512290"/>
                <a:ext cx="1772468" cy="1020097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nector: Elbow 52">
                <a:extLst>
                  <a:ext uri="{FF2B5EF4-FFF2-40B4-BE49-F238E27FC236}">
                    <a16:creationId xmlns:a16="http://schemas.microsoft.com/office/drawing/2014/main" id="{B0CFA905-CDA6-4CC7-5684-1C3B99233976}"/>
                  </a:ext>
                </a:extLst>
              </p:cNvPr>
              <p:cNvCxnSpPr>
                <a:cxnSpLocks/>
                <a:stCxn id="4" idx="3"/>
                <a:endCxn id="20" idx="0"/>
              </p:cNvCxnSpPr>
              <p:nvPr/>
            </p:nvCxnSpPr>
            <p:spPr>
              <a:xfrm>
                <a:off x="2515061" y="4969641"/>
                <a:ext cx="1230693" cy="86611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nector: Elbow 55">
                <a:extLst>
                  <a:ext uri="{FF2B5EF4-FFF2-40B4-BE49-F238E27FC236}">
                    <a16:creationId xmlns:a16="http://schemas.microsoft.com/office/drawing/2014/main" id="{05688058-DBE5-A1E2-AED3-5E25C8B08778}"/>
                  </a:ext>
                </a:extLst>
              </p:cNvPr>
              <p:cNvCxnSpPr>
                <a:cxnSpLocks/>
                <a:stCxn id="15" idx="2"/>
                <a:endCxn id="16" idx="0"/>
              </p:cNvCxnSpPr>
              <p:nvPr/>
            </p:nvCxnSpPr>
            <p:spPr>
              <a:xfrm rot="5400000">
                <a:off x="10262295" y="3586411"/>
                <a:ext cx="551409" cy="1020097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or: Elbow 61">
                <a:extLst>
                  <a:ext uri="{FF2B5EF4-FFF2-40B4-BE49-F238E27FC236}">
                    <a16:creationId xmlns:a16="http://schemas.microsoft.com/office/drawing/2014/main" id="{1F040C27-5309-01E4-701D-6D05A2EE06B2}"/>
                  </a:ext>
                </a:extLst>
              </p:cNvPr>
              <p:cNvCxnSpPr>
                <a:cxnSpLocks/>
                <a:stCxn id="19" idx="1"/>
                <a:endCxn id="20" idx="0"/>
              </p:cNvCxnSpPr>
              <p:nvPr/>
            </p:nvCxnSpPr>
            <p:spPr>
              <a:xfrm rot="10800000" flipV="1">
                <a:off x="3745754" y="4828253"/>
                <a:ext cx="982561" cy="100749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Arrow Connector 65">
                <a:extLst>
                  <a:ext uri="{FF2B5EF4-FFF2-40B4-BE49-F238E27FC236}">
                    <a16:creationId xmlns:a16="http://schemas.microsoft.com/office/drawing/2014/main" id="{CEB5829B-CE2E-6111-A322-6883BA3B6022}"/>
                  </a:ext>
                </a:extLst>
              </p:cNvPr>
              <p:cNvCxnSpPr>
                <a:cxnSpLocks/>
                <a:stCxn id="20" idx="3"/>
                <a:endCxn id="21" idx="1"/>
              </p:cNvCxnSpPr>
              <p:nvPr/>
            </p:nvCxnSpPr>
            <p:spPr>
              <a:xfrm>
                <a:off x="7399586" y="6291843"/>
                <a:ext cx="57438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" name="Connector: Elbow 1">
                <a:extLst>
                  <a:ext uri="{FF2B5EF4-FFF2-40B4-BE49-F238E27FC236}">
                    <a16:creationId xmlns:a16="http://schemas.microsoft.com/office/drawing/2014/main" id="{59238B87-B1F8-0712-EBB4-42FD97B28B85}"/>
                  </a:ext>
                </a:extLst>
              </p:cNvPr>
              <p:cNvCxnSpPr>
                <a:cxnSpLocks/>
                <a:stCxn id="14" idx="2"/>
                <a:endCxn id="16" idx="0"/>
              </p:cNvCxnSpPr>
              <p:nvPr/>
            </p:nvCxnSpPr>
            <p:spPr>
              <a:xfrm rot="16200000" flipH="1">
                <a:off x="9177866" y="3522078"/>
                <a:ext cx="551408" cy="1148761"/>
              </a:xfrm>
              <a:prstGeom prst="bentConnector3">
                <a:avLst>
                  <a:gd name="adj1" fmla="val 50000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F520852-84FC-996F-72B3-BF5965112049}"/>
                </a:ext>
              </a:extLst>
            </p:cNvPr>
            <p:cNvSpPr/>
            <p:nvPr/>
          </p:nvSpPr>
          <p:spPr>
            <a:xfrm>
              <a:off x="10101172" y="527774"/>
              <a:ext cx="877952" cy="300709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86351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356</Words>
  <Application>Microsoft Office PowerPoint</Application>
  <PresentationFormat>Widescreen</PresentationFormat>
  <Paragraphs>52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Inter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Harsha Halgamuwe Hewage</dc:creator>
  <cp:lastModifiedBy>Harsha Halgamuwe Hewage</cp:lastModifiedBy>
  <cp:revision>7</cp:revision>
  <dcterms:created xsi:type="dcterms:W3CDTF">2026-03-27T18:40:51Z</dcterms:created>
  <dcterms:modified xsi:type="dcterms:W3CDTF">2026-06-05T14:32:32Z</dcterms:modified>
</cp:coreProperties>
</file>