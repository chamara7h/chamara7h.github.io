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>
        <p:scale>
          <a:sx n="75" d="100"/>
          <a:sy n="75" d="100"/>
        </p:scale>
        <p:origin x="1360" y="6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6047C-DF03-4D7E-2C16-692E3599AC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02A1EF-D743-B79B-F51F-4FC3FCD19B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A67B3F-B454-A71D-D6BA-8FDBD0979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84E79-7666-4A01-BD16-B32BF5F2A754}" type="datetimeFigureOut">
              <a:rPr lang="en-GB" smtClean="0"/>
              <a:t>08/06/2026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F442DE-0DB4-C117-6BD3-52632BA53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1E816-618D-BF9D-753D-25B23D823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8DF58-CBF8-4A05-B9E7-644532DE04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67862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46A5C-998E-9767-7D01-6021E6595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564B64-498D-DE85-F812-8FA0C9ED0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BFC425-167D-4D51-8A74-005D3FA85B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84E79-7666-4A01-BD16-B32BF5F2A754}" type="datetimeFigureOut">
              <a:rPr lang="en-GB" smtClean="0"/>
              <a:t>08/06/2026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8D51F7-EA91-376A-05F8-EE7946943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439D17-B533-CA39-CBC7-AB955A3A7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8DF58-CBF8-4A05-B9E7-644532DE04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58535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460FA-CE80-FD33-F0B6-32BB5018E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725B7D-FB1E-B4D3-23A8-11CD5CD24D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C11283-519C-5232-C51C-4D0DCA195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84E79-7666-4A01-BD16-B32BF5F2A754}" type="datetimeFigureOut">
              <a:rPr lang="en-GB" smtClean="0"/>
              <a:t>08/06/2026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C48C30-0273-6503-0A32-E2D892828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A2AFB6-A0E1-2739-53F2-1FB9DCB17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8DF58-CBF8-4A05-B9E7-644532DE04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85293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A983A-9BE3-DC5D-ADD1-07FBE8F86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8F1B7E-E13D-2F52-8061-940F53BF0A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95127F-FFAC-13A3-6274-8F992929F6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B503CD-DCF3-374B-4255-1F9ADF489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84E79-7666-4A01-BD16-B32BF5F2A754}" type="datetimeFigureOut">
              <a:rPr lang="en-GB" smtClean="0"/>
              <a:t>08/06/2026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A2206D-64C9-8DA1-09F5-E54405125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C5F8AD-F981-5DF1-7B92-638F09A7B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8DF58-CBF8-4A05-B9E7-644532DE04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86534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ABA0A-F841-8241-ED6A-BFD587049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634CF6-0E88-5FCA-4691-2FF0614686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E783DE-87E7-0176-E2EC-337B07D7A8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1C64C4-FBFA-BA90-B45C-BAF7CBB967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228C03-082E-59AB-277B-E51D318C58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365C13-5FA2-5ABA-425E-120A8889C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84E79-7666-4A01-BD16-B32BF5F2A754}" type="datetimeFigureOut">
              <a:rPr lang="en-GB" smtClean="0"/>
              <a:t>08/06/2026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4F9373-0D35-F3F9-A6A4-6802737F6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19F2A30-E953-F0BA-CD7C-263C4CD3E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8DF58-CBF8-4A05-B9E7-644532DE04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18216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F435B-5D36-2C3D-95ED-A3A14EFEE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F7AEBC-2D55-8F2B-BCE4-0A65797DD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84E79-7666-4A01-BD16-B32BF5F2A754}" type="datetimeFigureOut">
              <a:rPr lang="en-GB" smtClean="0"/>
              <a:t>08/06/2026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346409-AE7A-1A53-1957-3357A8EB5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A28C67-864B-6EDD-E69F-5526673FF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8DF58-CBF8-4A05-B9E7-644532DE04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3477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79DAFF-A292-A035-DBB0-7417669DD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84E79-7666-4A01-BD16-B32BF5F2A754}" type="datetimeFigureOut">
              <a:rPr lang="en-GB" smtClean="0"/>
              <a:t>08/06/2026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30E3E0-2A9C-017B-2575-114D620B7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817418-AF3A-30A8-A808-FE95CD52D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8DF58-CBF8-4A05-B9E7-644532DE04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69149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E328F-8AA8-A5AE-2FD2-29A7205FD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D6A7B8-9496-93F0-13A4-33320F67E0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63A53E-7012-CB30-6B25-6876303332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8C8F6F-7C2D-FF92-79CA-86B13272A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84E79-7666-4A01-BD16-B32BF5F2A754}" type="datetimeFigureOut">
              <a:rPr lang="en-GB" smtClean="0"/>
              <a:t>08/06/2026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A1E4FD-7A86-1D09-4239-E65B4005F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FCF02F-82F7-DEDE-916C-0020477B7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8DF58-CBF8-4A05-B9E7-644532DE04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72825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DA51A-28E5-F93A-CF81-72F9B1BC0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4A8924-930C-3AEE-A810-8B8D1B1C91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C8A329-D01D-9088-8080-FB5AE8E925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059227-2128-CC55-CFEB-D61E91FCC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84E79-7666-4A01-BD16-B32BF5F2A754}" type="datetimeFigureOut">
              <a:rPr lang="en-GB" smtClean="0"/>
              <a:t>08/06/2026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F3E717-A723-EC16-0EEC-F7B08E04A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E15745-5CD9-03D9-1BA8-C302C82F4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8DF58-CBF8-4A05-B9E7-644532DE04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77528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E4A0B-A98A-5857-4E58-4DDDF4122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BE4B5F-D18E-77D5-5E50-D7F9BEF989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4AA924-C0C8-44BE-2D7C-FC69FB202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84E79-7666-4A01-BD16-B32BF5F2A754}" type="datetimeFigureOut">
              <a:rPr lang="en-GB" smtClean="0"/>
              <a:t>08/06/2026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D8ED13-A300-6EA4-E0A3-B27737ABE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ADB7C4-ADC2-AD71-9AF3-F8C512EC6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8DF58-CBF8-4A05-B9E7-644532DE04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5875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9FEC5B5-C21E-9F31-6AC3-33D18D17AC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76D0A8-D374-3D58-CF99-E1A9609BE5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2F72FC-25A7-C5E8-7581-2955FC077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84E79-7666-4A01-BD16-B32BF5F2A754}" type="datetimeFigureOut">
              <a:rPr lang="en-GB" smtClean="0"/>
              <a:t>08/06/2026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47BC3A-B089-06DC-812A-1AEB97E03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798C84-3714-FDBF-7FC4-1BEDF024F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8DF58-CBF8-4A05-B9E7-644532DE04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25445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1E4669-FF9D-CCB8-AB5D-D462AD798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E7779B-C784-3B37-8CCE-FB6D6596C2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4E06A9-4CB0-08A6-AB7B-60E8CCB5BC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B84E79-7666-4A01-BD16-B32BF5F2A754}" type="datetimeFigureOut">
              <a:rPr lang="en-GB" smtClean="0"/>
              <a:t>08/06/2026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915B5D-3E98-492D-1D08-EA7F8E9377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7B1AC7-6364-5A91-64B2-0B3809BC73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58DF58-CBF8-4A05-B9E7-644532DE04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8251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" name="Group 130">
            <a:extLst>
              <a:ext uri="{FF2B5EF4-FFF2-40B4-BE49-F238E27FC236}">
                <a16:creationId xmlns:a16="http://schemas.microsoft.com/office/drawing/2014/main" id="{F7642434-52CC-F07A-EAD1-7A77AFA781DC}"/>
              </a:ext>
            </a:extLst>
          </p:cNvPr>
          <p:cNvGrpSpPr/>
          <p:nvPr/>
        </p:nvGrpSpPr>
        <p:grpSpPr>
          <a:xfrm>
            <a:off x="153422" y="155447"/>
            <a:ext cx="11905611" cy="6613567"/>
            <a:chOff x="914400" y="1417320"/>
            <a:chExt cx="10058400" cy="3273552"/>
          </a:xfrm>
        </p:grpSpPr>
        <p:sp>
          <p:nvSpPr>
            <p:cNvPr id="2" name="Shape 3">
              <a:extLst>
                <a:ext uri="{FF2B5EF4-FFF2-40B4-BE49-F238E27FC236}">
                  <a16:creationId xmlns:a16="http://schemas.microsoft.com/office/drawing/2014/main" id="{E3FF16BC-A132-223D-E0D9-5E9FA1F7A9E2}"/>
                </a:ext>
              </a:extLst>
            </p:cNvPr>
            <p:cNvSpPr/>
            <p:nvPr/>
          </p:nvSpPr>
          <p:spPr>
            <a:xfrm>
              <a:off x="4937760" y="1828800"/>
              <a:ext cx="2148840" cy="2057400"/>
            </a:xfrm>
            <a:prstGeom prst="roundRect">
              <a:avLst>
                <a:gd name="adj" fmla="val 5333"/>
              </a:avLst>
            </a:prstGeom>
            <a:solidFill>
              <a:srgbClr val="F7FAFC"/>
            </a:solidFill>
            <a:ln w="17780">
              <a:solidFill>
                <a:srgbClr val="212B49"/>
              </a:solidFill>
              <a:prstDash val="solid"/>
            </a:ln>
          </p:spPr>
          <p:txBody>
            <a:bodyPr/>
            <a:lstStyle/>
            <a:p>
              <a:endParaRPr lang="en-GB">
                <a:latin typeface="Inter" panose="02000503000000020004" pitchFamily="2" charset="0"/>
                <a:ea typeface="Inter" panose="02000503000000020004" pitchFamily="2" charset="0"/>
              </a:endParaRPr>
            </a:p>
          </p:txBody>
        </p:sp>
        <p:sp>
          <p:nvSpPr>
            <p:cNvPr id="3" name="Text 4">
              <a:extLst>
                <a:ext uri="{FF2B5EF4-FFF2-40B4-BE49-F238E27FC236}">
                  <a16:creationId xmlns:a16="http://schemas.microsoft.com/office/drawing/2014/main" id="{7F8B85BD-6A7C-37FE-D5F8-6DFFCCF5C586}"/>
                </a:ext>
              </a:extLst>
            </p:cNvPr>
            <p:cNvSpPr/>
            <p:nvPr/>
          </p:nvSpPr>
          <p:spPr>
            <a:xfrm>
              <a:off x="5257800" y="2468880"/>
              <a:ext cx="150876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212B49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Forecasting</a:t>
              </a:r>
              <a:endParaRPr lang="en-US" sz="2400" dirty="0">
                <a:latin typeface="Inter" panose="02000503000000020004" pitchFamily="2" charset="0"/>
                <a:ea typeface="Inter" panose="02000503000000020004" pitchFamily="2" charset="0"/>
              </a:endParaRPr>
            </a:p>
            <a:p>
              <a:pPr marL="0" indent="0" algn="ctr">
                <a:buNone/>
              </a:pPr>
              <a:r>
                <a:rPr lang="en-US" sz="2400" b="1" dirty="0">
                  <a:solidFill>
                    <a:srgbClr val="212B49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model</a:t>
              </a:r>
              <a:endParaRPr lang="en-US" sz="2400" dirty="0">
                <a:latin typeface="Inter" panose="02000503000000020004" pitchFamily="2" charset="0"/>
                <a:ea typeface="Inter" panose="02000503000000020004" pitchFamily="2" charset="0"/>
              </a:endParaRPr>
            </a:p>
          </p:txBody>
        </p:sp>
        <p:sp>
          <p:nvSpPr>
            <p:cNvPr id="4" name="Shape 8">
              <a:extLst>
                <a:ext uri="{FF2B5EF4-FFF2-40B4-BE49-F238E27FC236}">
                  <a16:creationId xmlns:a16="http://schemas.microsoft.com/office/drawing/2014/main" id="{1491B6D1-9659-16EC-DD71-A15D61D60A56}"/>
                </a:ext>
              </a:extLst>
            </p:cNvPr>
            <p:cNvSpPr/>
            <p:nvPr/>
          </p:nvSpPr>
          <p:spPr>
            <a:xfrm>
              <a:off x="914400" y="1417320"/>
              <a:ext cx="2286000" cy="621792"/>
            </a:xfrm>
            <a:prstGeom prst="roundRect">
              <a:avLst>
                <a:gd name="adj" fmla="val 8824"/>
              </a:avLst>
            </a:prstGeom>
            <a:solidFill>
              <a:schemeClr val="accent3">
                <a:lumMod val="20000"/>
                <a:lumOff val="80000"/>
              </a:schemeClr>
            </a:solidFill>
            <a:ln w="12700">
              <a:solidFill>
                <a:schemeClr val="accent6"/>
              </a:solidFill>
              <a:prstDash val="solid"/>
            </a:ln>
          </p:spPr>
          <p:txBody>
            <a:bodyPr/>
            <a:lstStyle/>
            <a:p>
              <a:endParaRPr lang="en-GB" dirty="0">
                <a:latin typeface="Inter" panose="02000503000000020004" pitchFamily="2" charset="0"/>
                <a:ea typeface="Inter" panose="02000503000000020004" pitchFamily="2" charset="0"/>
              </a:endParaRPr>
            </a:p>
          </p:txBody>
        </p:sp>
        <p:sp>
          <p:nvSpPr>
            <p:cNvPr id="5" name="Text 9">
              <a:extLst>
                <a:ext uri="{FF2B5EF4-FFF2-40B4-BE49-F238E27FC236}">
                  <a16:creationId xmlns:a16="http://schemas.microsoft.com/office/drawing/2014/main" id="{75536A37-F38B-0456-891F-D457EEDDF0FE}"/>
                </a:ext>
              </a:extLst>
            </p:cNvPr>
            <p:cNvSpPr/>
            <p:nvPr/>
          </p:nvSpPr>
          <p:spPr>
            <a:xfrm>
              <a:off x="1024128" y="1563624"/>
              <a:ext cx="205740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b="1" dirty="0">
                  <a:solidFill>
                    <a:schemeClr val="accent3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Forecast accuracy</a:t>
              </a:r>
              <a:endParaRPr lang="en-US" dirty="0">
                <a:solidFill>
                  <a:schemeClr val="accent3"/>
                </a:solidFill>
                <a:latin typeface="Inter" panose="02000503000000020004" pitchFamily="2" charset="0"/>
                <a:ea typeface="Inter" panose="02000503000000020004" pitchFamily="2" charset="0"/>
              </a:endParaRPr>
            </a:p>
          </p:txBody>
        </p:sp>
        <p:sp>
          <p:nvSpPr>
            <p:cNvPr id="6" name="Shape 10">
              <a:extLst>
                <a:ext uri="{FF2B5EF4-FFF2-40B4-BE49-F238E27FC236}">
                  <a16:creationId xmlns:a16="http://schemas.microsoft.com/office/drawing/2014/main" id="{FA29A61A-6926-39A5-BF80-EC692B661A73}"/>
                </a:ext>
              </a:extLst>
            </p:cNvPr>
            <p:cNvSpPr/>
            <p:nvPr/>
          </p:nvSpPr>
          <p:spPr>
            <a:xfrm>
              <a:off x="3200400" y="1728216"/>
              <a:ext cx="1737360" cy="393192"/>
            </a:xfrm>
            <a:prstGeom prst="line">
              <a:avLst/>
            </a:prstGeom>
            <a:noFill/>
            <a:ln w="15240">
              <a:solidFill>
                <a:srgbClr val="212B49"/>
              </a:solidFill>
              <a:prstDash val="solid"/>
            </a:ln>
          </p:spPr>
          <p:txBody>
            <a:bodyPr/>
            <a:lstStyle/>
            <a:p>
              <a:endParaRPr lang="en-GB">
                <a:latin typeface="Inter" panose="02000503000000020004" pitchFamily="2" charset="0"/>
                <a:ea typeface="Inter" panose="02000503000000020004" pitchFamily="2" charset="0"/>
              </a:endParaRPr>
            </a:p>
          </p:txBody>
        </p:sp>
        <p:sp>
          <p:nvSpPr>
            <p:cNvPr id="20" name="Shape 11">
              <a:extLst>
                <a:ext uri="{FF2B5EF4-FFF2-40B4-BE49-F238E27FC236}">
                  <a16:creationId xmlns:a16="http://schemas.microsoft.com/office/drawing/2014/main" id="{3BD73E8C-AD71-0235-1883-F8AABC8B0298}"/>
                </a:ext>
              </a:extLst>
            </p:cNvPr>
            <p:cNvSpPr/>
            <p:nvPr/>
          </p:nvSpPr>
          <p:spPr>
            <a:xfrm>
              <a:off x="914400" y="2743200"/>
              <a:ext cx="2286000" cy="621792"/>
            </a:xfrm>
            <a:prstGeom prst="roundRect">
              <a:avLst>
                <a:gd name="adj" fmla="val 8824"/>
              </a:avLst>
            </a:prstGeom>
            <a:solidFill>
              <a:schemeClr val="accent3">
                <a:lumMod val="20000"/>
                <a:lumOff val="80000"/>
              </a:schemeClr>
            </a:solidFill>
            <a:ln w="12700">
              <a:solidFill>
                <a:schemeClr val="accent3"/>
              </a:solidFill>
              <a:prstDash val="solid"/>
            </a:ln>
          </p:spPr>
          <p:txBody>
            <a:bodyPr/>
            <a:lstStyle/>
            <a:p>
              <a:endParaRPr lang="en-GB">
                <a:latin typeface="Inter" panose="02000503000000020004" pitchFamily="2" charset="0"/>
                <a:ea typeface="Inter" panose="02000503000000020004" pitchFamily="2" charset="0"/>
              </a:endParaRPr>
            </a:p>
          </p:txBody>
        </p:sp>
        <p:sp>
          <p:nvSpPr>
            <p:cNvPr id="32" name="Text 12">
              <a:extLst>
                <a:ext uri="{FF2B5EF4-FFF2-40B4-BE49-F238E27FC236}">
                  <a16:creationId xmlns:a16="http://schemas.microsoft.com/office/drawing/2014/main" id="{2A360B3F-911E-2227-E424-B2A536A05DB7}"/>
                </a:ext>
              </a:extLst>
            </p:cNvPr>
            <p:cNvSpPr/>
            <p:nvPr/>
          </p:nvSpPr>
          <p:spPr>
            <a:xfrm>
              <a:off x="1024128" y="2889504"/>
              <a:ext cx="205740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b="1" dirty="0">
                  <a:solidFill>
                    <a:schemeClr val="accent3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Resource requirements</a:t>
              </a:r>
              <a:endParaRPr lang="en-US" dirty="0">
                <a:solidFill>
                  <a:schemeClr val="accent3"/>
                </a:solidFill>
                <a:latin typeface="Inter" panose="02000503000000020004" pitchFamily="2" charset="0"/>
                <a:ea typeface="Inter" panose="02000503000000020004" pitchFamily="2" charset="0"/>
              </a:endParaRPr>
            </a:p>
          </p:txBody>
        </p:sp>
        <p:sp>
          <p:nvSpPr>
            <p:cNvPr id="38" name="Shape 13">
              <a:extLst>
                <a:ext uri="{FF2B5EF4-FFF2-40B4-BE49-F238E27FC236}">
                  <a16:creationId xmlns:a16="http://schemas.microsoft.com/office/drawing/2014/main" id="{7D1D8B08-8182-A06A-BFAC-45639F2D87E4}"/>
                </a:ext>
              </a:extLst>
            </p:cNvPr>
            <p:cNvSpPr/>
            <p:nvPr/>
          </p:nvSpPr>
          <p:spPr>
            <a:xfrm>
              <a:off x="3200400" y="3054096"/>
              <a:ext cx="1737360" cy="0"/>
            </a:xfrm>
            <a:prstGeom prst="line">
              <a:avLst/>
            </a:prstGeom>
            <a:noFill/>
            <a:ln w="15240">
              <a:solidFill>
                <a:srgbClr val="212B49"/>
              </a:solidFill>
              <a:prstDash val="solid"/>
            </a:ln>
          </p:spPr>
          <p:txBody>
            <a:bodyPr/>
            <a:lstStyle/>
            <a:p>
              <a:endParaRPr lang="en-GB">
                <a:latin typeface="Inter" panose="02000503000000020004" pitchFamily="2" charset="0"/>
                <a:ea typeface="Inter" panose="02000503000000020004" pitchFamily="2" charset="0"/>
              </a:endParaRPr>
            </a:p>
          </p:txBody>
        </p:sp>
        <p:sp>
          <p:nvSpPr>
            <p:cNvPr id="42" name="Shape 14">
              <a:extLst>
                <a:ext uri="{FF2B5EF4-FFF2-40B4-BE49-F238E27FC236}">
                  <a16:creationId xmlns:a16="http://schemas.microsoft.com/office/drawing/2014/main" id="{7788E720-A364-A649-608B-4265E4B9279F}"/>
                </a:ext>
              </a:extLst>
            </p:cNvPr>
            <p:cNvSpPr/>
            <p:nvPr/>
          </p:nvSpPr>
          <p:spPr>
            <a:xfrm>
              <a:off x="914400" y="4069080"/>
              <a:ext cx="2286000" cy="621792"/>
            </a:xfrm>
            <a:prstGeom prst="roundRect">
              <a:avLst>
                <a:gd name="adj" fmla="val 8824"/>
              </a:avLst>
            </a:prstGeom>
            <a:solidFill>
              <a:schemeClr val="accent3">
                <a:lumMod val="20000"/>
                <a:lumOff val="80000"/>
              </a:schemeClr>
            </a:solidFill>
            <a:ln w="12700">
              <a:solidFill>
                <a:schemeClr val="accent3"/>
              </a:solidFill>
              <a:prstDash val="solid"/>
            </a:ln>
          </p:spPr>
          <p:txBody>
            <a:bodyPr/>
            <a:lstStyle/>
            <a:p>
              <a:endParaRPr lang="en-GB">
                <a:latin typeface="Inter" panose="02000503000000020004" pitchFamily="2" charset="0"/>
                <a:ea typeface="Inter" panose="02000503000000020004" pitchFamily="2" charset="0"/>
              </a:endParaRPr>
            </a:p>
          </p:txBody>
        </p:sp>
        <p:sp>
          <p:nvSpPr>
            <p:cNvPr id="46" name="Text 15">
              <a:extLst>
                <a:ext uri="{FF2B5EF4-FFF2-40B4-BE49-F238E27FC236}">
                  <a16:creationId xmlns:a16="http://schemas.microsoft.com/office/drawing/2014/main" id="{E79C7D64-D6E4-91B0-D08D-D96CFD3F50E7}"/>
                </a:ext>
              </a:extLst>
            </p:cNvPr>
            <p:cNvSpPr/>
            <p:nvPr/>
          </p:nvSpPr>
          <p:spPr>
            <a:xfrm>
              <a:off x="1024128" y="4215384"/>
              <a:ext cx="205740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b="1" dirty="0">
                  <a:solidFill>
                    <a:schemeClr val="accent3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Speed</a:t>
              </a:r>
              <a:endParaRPr lang="en-US" dirty="0">
                <a:solidFill>
                  <a:schemeClr val="accent3"/>
                </a:solidFill>
                <a:latin typeface="Inter" panose="02000503000000020004" pitchFamily="2" charset="0"/>
                <a:ea typeface="Inter" panose="02000503000000020004" pitchFamily="2" charset="0"/>
              </a:endParaRPr>
            </a:p>
          </p:txBody>
        </p:sp>
        <p:sp>
          <p:nvSpPr>
            <p:cNvPr id="60" name="Shape 16">
              <a:extLst>
                <a:ext uri="{FF2B5EF4-FFF2-40B4-BE49-F238E27FC236}">
                  <a16:creationId xmlns:a16="http://schemas.microsoft.com/office/drawing/2014/main" id="{DCE2ECF5-5AF7-E012-66B8-83DC3DECF44E}"/>
                </a:ext>
              </a:extLst>
            </p:cNvPr>
            <p:cNvSpPr/>
            <p:nvPr/>
          </p:nvSpPr>
          <p:spPr>
            <a:xfrm flipV="1">
              <a:off x="3200400" y="3639312"/>
              <a:ext cx="1737360" cy="740664"/>
            </a:xfrm>
            <a:prstGeom prst="line">
              <a:avLst/>
            </a:prstGeom>
            <a:noFill/>
            <a:ln w="15240">
              <a:solidFill>
                <a:srgbClr val="212B49"/>
              </a:solidFill>
              <a:prstDash val="solid"/>
            </a:ln>
          </p:spPr>
          <p:txBody>
            <a:bodyPr/>
            <a:lstStyle/>
            <a:p>
              <a:endParaRPr lang="en-GB">
                <a:latin typeface="Inter" panose="02000503000000020004" pitchFamily="2" charset="0"/>
                <a:ea typeface="Inter" panose="02000503000000020004" pitchFamily="2" charset="0"/>
              </a:endParaRPr>
            </a:p>
          </p:txBody>
        </p:sp>
        <p:sp>
          <p:nvSpPr>
            <p:cNvPr id="63" name="Shape 17">
              <a:extLst>
                <a:ext uri="{FF2B5EF4-FFF2-40B4-BE49-F238E27FC236}">
                  <a16:creationId xmlns:a16="http://schemas.microsoft.com/office/drawing/2014/main" id="{66545ADE-50D9-88E3-DCBD-39A526B0DC5A}"/>
                </a:ext>
              </a:extLst>
            </p:cNvPr>
            <p:cNvSpPr/>
            <p:nvPr/>
          </p:nvSpPr>
          <p:spPr>
            <a:xfrm>
              <a:off x="8686800" y="1417320"/>
              <a:ext cx="2286000" cy="621792"/>
            </a:xfrm>
            <a:prstGeom prst="roundRect">
              <a:avLst>
                <a:gd name="adj" fmla="val 8824"/>
              </a:avLst>
            </a:prstGeom>
            <a:solidFill>
              <a:srgbClr val="FFFFFF"/>
            </a:solidFill>
            <a:ln w="12700">
              <a:solidFill>
                <a:srgbClr val="212B49"/>
              </a:solidFill>
              <a:prstDash val="solid"/>
            </a:ln>
          </p:spPr>
          <p:txBody>
            <a:bodyPr/>
            <a:lstStyle/>
            <a:p>
              <a:endParaRPr lang="en-GB">
                <a:latin typeface="Inter" panose="02000503000000020004" pitchFamily="2" charset="0"/>
                <a:ea typeface="Inter" panose="02000503000000020004" pitchFamily="2" charset="0"/>
              </a:endParaRPr>
            </a:p>
          </p:txBody>
        </p:sp>
        <p:sp>
          <p:nvSpPr>
            <p:cNvPr id="102" name="Text 18">
              <a:extLst>
                <a:ext uri="{FF2B5EF4-FFF2-40B4-BE49-F238E27FC236}">
                  <a16:creationId xmlns:a16="http://schemas.microsoft.com/office/drawing/2014/main" id="{65A60904-A6B3-E0AE-3D3E-171A3F35586A}"/>
                </a:ext>
              </a:extLst>
            </p:cNvPr>
            <p:cNvSpPr/>
            <p:nvPr/>
          </p:nvSpPr>
          <p:spPr>
            <a:xfrm>
              <a:off x="8796528" y="1563624"/>
              <a:ext cx="205740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212B49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Data leakage</a:t>
              </a:r>
              <a:endParaRPr lang="en-US" dirty="0">
                <a:latin typeface="Inter" panose="02000503000000020004" pitchFamily="2" charset="0"/>
                <a:ea typeface="Inter" panose="02000503000000020004" pitchFamily="2" charset="0"/>
              </a:endParaRPr>
            </a:p>
          </p:txBody>
        </p:sp>
        <p:sp>
          <p:nvSpPr>
            <p:cNvPr id="104" name="Shape 19">
              <a:extLst>
                <a:ext uri="{FF2B5EF4-FFF2-40B4-BE49-F238E27FC236}">
                  <a16:creationId xmlns:a16="http://schemas.microsoft.com/office/drawing/2014/main" id="{896F3E70-351B-5E02-F838-6C040A321C9A}"/>
                </a:ext>
              </a:extLst>
            </p:cNvPr>
            <p:cNvSpPr/>
            <p:nvPr/>
          </p:nvSpPr>
          <p:spPr>
            <a:xfrm flipV="1">
              <a:off x="7086600" y="1728216"/>
              <a:ext cx="1600200" cy="393192"/>
            </a:xfrm>
            <a:prstGeom prst="line">
              <a:avLst/>
            </a:prstGeom>
            <a:noFill/>
            <a:ln w="15240">
              <a:solidFill>
                <a:srgbClr val="212B49"/>
              </a:solidFill>
              <a:prstDash val="solid"/>
            </a:ln>
          </p:spPr>
          <p:txBody>
            <a:bodyPr/>
            <a:lstStyle/>
            <a:p>
              <a:endParaRPr lang="en-GB">
                <a:latin typeface="Inter" panose="02000503000000020004" pitchFamily="2" charset="0"/>
                <a:ea typeface="Inter" panose="02000503000000020004" pitchFamily="2" charset="0"/>
              </a:endParaRPr>
            </a:p>
          </p:txBody>
        </p:sp>
        <p:sp>
          <p:nvSpPr>
            <p:cNvPr id="105" name="Shape 20">
              <a:extLst>
                <a:ext uri="{FF2B5EF4-FFF2-40B4-BE49-F238E27FC236}">
                  <a16:creationId xmlns:a16="http://schemas.microsoft.com/office/drawing/2014/main" id="{3B7BEF0F-235D-E54C-6D0D-CD2066DDDEED}"/>
                </a:ext>
              </a:extLst>
            </p:cNvPr>
            <p:cNvSpPr/>
            <p:nvPr/>
          </p:nvSpPr>
          <p:spPr>
            <a:xfrm>
              <a:off x="8686800" y="2743200"/>
              <a:ext cx="2286000" cy="621792"/>
            </a:xfrm>
            <a:prstGeom prst="roundRect">
              <a:avLst>
                <a:gd name="adj" fmla="val 8824"/>
              </a:avLst>
            </a:prstGeom>
            <a:solidFill>
              <a:srgbClr val="FFFFFF"/>
            </a:solidFill>
            <a:ln w="12700">
              <a:solidFill>
                <a:srgbClr val="212B49"/>
              </a:solidFill>
              <a:prstDash val="solid"/>
            </a:ln>
          </p:spPr>
          <p:txBody>
            <a:bodyPr/>
            <a:lstStyle/>
            <a:p>
              <a:endParaRPr lang="en-GB">
                <a:latin typeface="Inter" panose="02000503000000020004" pitchFamily="2" charset="0"/>
                <a:ea typeface="Inter" panose="02000503000000020004" pitchFamily="2" charset="0"/>
              </a:endParaRPr>
            </a:p>
          </p:txBody>
        </p:sp>
        <p:sp>
          <p:nvSpPr>
            <p:cNvPr id="117" name="Text 21">
              <a:extLst>
                <a:ext uri="{FF2B5EF4-FFF2-40B4-BE49-F238E27FC236}">
                  <a16:creationId xmlns:a16="http://schemas.microsoft.com/office/drawing/2014/main" id="{A0F4CC1A-B248-158E-FBCA-0E43BB141CC2}"/>
                </a:ext>
              </a:extLst>
            </p:cNvPr>
            <p:cNvSpPr/>
            <p:nvPr/>
          </p:nvSpPr>
          <p:spPr>
            <a:xfrm>
              <a:off x="8796528" y="2889504"/>
              <a:ext cx="205740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212B49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Understandability &amp;</a:t>
              </a:r>
              <a:endParaRPr lang="en-US" dirty="0">
                <a:latin typeface="Inter" panose="02000503000000020004" pitchFamily="2" charset="0"/>
                <a:ea typeface="Inter" panose="02000503000000020004" pitchFamily="2" charset="0"/>
              </a:endParaRPr>
            </a:p>
            <a:p>
              <a:pPr marL="0" indent="0" algn="ctr">
                <a:buNone/>
              </a:pPr>
              <a:r>
                <a:rPr lang="en-US" b="1" dirty="0">
                  <a:solidFill>
                    <a:srgbClr val="212B49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explainability</a:t>
              </a:r>
              <a:endParaRPr lang="en-US" dirty="0">
                <a:latin typeface="Inter" panose="02000503000000020004" pitchFamily="2" charset="0"/>
                <a:ea typeface="Inter" panose="02000503000000020004" pitchFamily="2" charset="0"/>
              </a:endParaRPr>
            </a:p>
          </p:txBody>
        </p:sp>
        <p:sp>
          <p:nvSpPr>
            <p:cNvPr id="121" name="Shape 22">
              <a:extLst>
                <a:ext uri="{FF2B5EF4-FFF2-40B4-BE49-F238E27FC236}">
                  <a16:creationId xmlns:a16="http://schemas.microsoft.com/office/drawing/2014/main" id="{0A920DD3-86BC-62DE-C0C7-A355D7D2CA7F}"/>
                </a:ext>
              </a:extLst>
            </p:cNvPr>
            <p:cNvSpPr/>
            <p:nvPr/>
          </p:nvSpPr>
          <p:spPr>
            <a:xfrm>
              <a:off x="7086600" y="3054096"/>
              <a:ext cx="1600200" cy="0"/>
            </a:xfrm>
            <a:prstGeom prst="line">
              <a:avLst/>
            </a:prstGeom>
            <a:noFill/>
            <a:ln w="15240">
              <a:solidFill>
                <a:srgbClr val="212B49"/>
              </a:solidFill>
              <a:prstDash val="solid"/>
            </a:ln>
          </p:spPr>
          <p:txBody>
            <a:bodyPr/>
            <a:lstStyle/>
            <a:p>
              <a:endParaRPr lang="en-GB">
                <a:latin typeface="Inter" panose="02000503000000020004" pitchFamily="2" charset="0"/>
                <a:ea typeface="Inter" panose="02000503000000020004" pitchFamily="2" charset="0"/>
              </a:endParaRPr>
            </a:p>
          </p:txBody>
        </p:sp>
        <p:sp>
          <p:nvSpPr>
            <p:cNvPr id="128" name="Shape 23">
              <a:extLst>
                <a:ext uri="{FF2B5EF4-FFF2-40B4-BE49-F238E27FC236}">
                  <a16:creationId xmlns:a16="http://schemas.microsoft.com/office/drawing/2014/main" id="{04BC090F-9BE7-960D-A9BF-A01C5A8EC69C}"/>
                </a:ext>
              </a:extLst>
            </p:cNvPr>
            <p:cNvSpPr/>
            <p:nvPr/>
          </p:nvSpPr>
          <p:spPr>
            <a:xfrm>
              <a:off x="8686800" y="4069080"/>
              <a:ext cx="2286000" cy="621792"/>
            </a:xfrm>
            <a:prstGeom prst="roundRect">
              <a:avLst>
                <a:gd name="adj" fmla="val 8824"/>
              </a:avLst>
            </a:prstGeom>
            <a:solidFill>
              <a:schemeClr val="accent3">
                <a:lumMod val="20000"/>
                <a:lumOff val="80000"/>
              </a:schemeClr>
            </a:solidFill>
            <a:ln w="12700">
              <a:solidFill>
                <a:schemeClr val="accent3"/>
              </a:solidFill>
              <a:prstDash val="solid"/>
            </a:ln>
          </p:spPr>
          <p:txBody>
            <a:bodyPr/>
            <a:lstStyle/>
            <a:p>
              <a:endParaRPr lang="en-GB">
                <a:latin typeface="Inter" panose="02000503000000020004" pitchFamily="2" charset="0"/>
                <a:ea typeface="Inter" panose="02000503000000020004" pitchFamily="2" charset="0"/>
              </a:endParaRPr>
            </a:p>
          </p:txBody>
        </p:sp>
        <p:sp>
          <p:nvSpPr>
            <p:cNvPr id="129" name="Text 24">
              <a:extLst>
                <a:ext uri="{FF2B5EF4-FFF2-40B4-BE49-F238E27FC236}">
                  <a16:creationId xmlns:a16="http://schemas.microsoft.com/office/drawing/2014/main" id="{67199404-EBF0-4DD1-7C8B-6E7124C28389}"/>
                </a:ext>
              </a:extLst>
            </p:cNvPr>
            <p:cNvSpPr/>
            <p:nvPr/>
          </p:nvSpPr>
          <p:spPr>
            <a:xfrm>
              <a:off x="8796528" y="4215384"/>
              <a:ext cx="205740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b="1" dirty="0">
                  <a:solidFill>
                    <a:schemeClr val="accent3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Maintainability &amp;</a:t>
              </a:r>
              <a:endParaRPr lang="en-US" dirty="0">
                <a:solidFill>
                  <a:schemeClr val="accent3"/>
                </a:solidFill>
                <a:latin typeface="Inter" panose="02000503000000020004" pitchFamily="2" charset="0"/>
                <a:ea typeface="Inter" panose="02000503000000020004" pitchFamily="2" charset="0"/>
              </a:endParaRPr>
            </a:p>
            <a:p>
              <a:pPr marL="0" indent="0" algn="ctr">
                <a:buNone/>
              </a:pPr>
              <a:r>
                <a:rPr lang="en-US" b="1" dirty="0">
                  <a:solidFill>
                    <a:schemeClr val="accent3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debuggability</a:t>
              </a:r>
              <a:endParaRPr lang="en-US" dirty="0">
                <a:solidFill>
                  <a:schemeClr val="accent3"/>
                </a:solidFill>
                <a:latin typeface="Inter" panose="02000503000000020004" pitchFamily="2" charset="0"/>
                <a:ea typeface="Inter" panose="02000503000000020004" pitchFamily="2" charset="0"/>
              </a:endParaRPr>
            </a:p>
          </p:txBody>
        </p:sp>
        <p:sp>
          <p:nvSpPr>
            <p:cNvPr id="130" name="Shape 25">
              <a:extLst>
                <a:ext uri="{FF2B5EF4-FFF2-40B4-BE49-F238E27FC236}">
                  <a16:creationId xmlns:a16="http://schemas.microsoft.com/office/drawing/2014/main" id="{6A90A89B-B046-CBD7-F6DD-78956609E411}"/>
                </a:ext>
              </a:extLst>
            </p:cNvPr>
            <p:cNvSpPr/>
            <p:nvPr/>
          </p:nvSpPr>
          <p:spPr>
            <a:xfrm>
              <a:off x="7086600" y="3639312"/>
              <a:ext cx="1600200" cy="740664"/>
            </a:xfrm>
            <a:prstGeom prst="line">
              <a:avLst/>
            </a:prstGeom>
            <a:noFill/>
            <a:ln w="15240">
              <a:solidFill>
                <a:srgbClr val="212B49"/>
              </a:solidFill>
              <a:prstDash val="solid"/>
            </a:ln>
          </p:spPr>
          <p:txBody>
            <a:bodyPr/>
            <a:lstStyle/>
            <a:p>
              <a:endParaRPr lang="en-GB">
                <a:latin typeface="Inter" panose="02000503000000020004" pitchFamily="2" charset="0"/>
                <a:ea typeface="Inter" panose="02000503000000020004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956419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15</Words>
  <Application>Microsoft Office PowerPoint</Application>
  <PresentationFormat>Widescreen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Inter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Harsha Halgamuwe Hewage</dc:creator>
  <cp:lastModifiedBy>Harsha Halgamuwe Hewage</cp:lastModifiedBy>
  <cp:revision>5</cp:revision>
  <dcterms:created xsi:type="dcterms:W3CDTF">2026-05-06T14:32:50Z</dcterms:created>
  <dcterms:modified xsi:type="dcterms:W3CDTF">2026-06-08T17:47:39Z</dcterms:modified>
</cp:coreProperties>
</file>