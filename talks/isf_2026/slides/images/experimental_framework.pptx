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E1F0-87FF-B52B-492A-BBB43723C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4DD62-A42D-FD92-FFCD-D0F88E1FB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AD905-571E-36B4-CF89-449D63B4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8ADE2-8E3A-84CA-87D9-6A7F517AD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7BF6E-7E21-BDD6-C96E-BE58D8E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53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5892-5601-039D-146E-0525AB4C8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A0A2-2A82-1214-D3C2-7F74B2287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369B1-1D58-FAFF-C369-DAFF7F27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6576C-5455-235E-DEB9-E2AB077DF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2EA77-A4A8-6042-3C8D-6A53A0EC6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39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861D-2F6E-AF93-94A9-5088787A7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0E7D2-013F-BC25-BDBE-27D6179A6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C08E5-55E6-817B-FBE4-37115EBF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93553-7C76-C622-7D1E-C081F85B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9925B-D7F0-3DF2-0D6D-DA369554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AC02-D7D7-EE4F-F495-511DA985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DE6E-83B5-855E-7AD5-33FC3F96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CEF06-A291-2B00-FA52-E14A987A5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16F06-C0FC-4DCA-15BC-54855EDD7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77DC0-3AD0-F765-EF38-23F2A3D5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7EA1-122A-2783-37F2-EE1E4DE5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939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DBA7-51F7-532B-E10B-8661AFAA4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58230-C27C-CF1A-842E-64527E8D2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1A0B5-0CC3-B295-A6BE-0D4A620E8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B2B0E-4143-CEF9-5918-B979413D0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AE6E61-2AAF-E94C-72B1-3CEEE4B1BE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3882D9-E196-D8DD-AFA5-9285AE7C8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4A3085-D17A-6DDE-7DBA-8AA476FBC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DC54F0-759D-64A7-33E0-CB06A5599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712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AF90-B1B0-2570-30F1-771543E3F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20158-AACA-C1BB-8D21-D49FF0FCA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DCE26-61C5-FAD3-B0C5-FB818DBC9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4630F-3D81-EB0C-224B-3FD252DE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98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288F4-DCFC-EAB9-1E9A-E38C28B9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F79A14-7443-0712-9FC8-F134BC183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EC2BA-BAF3-BE7A-3936-F2A854FE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96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6CA63-B70E-365F-B2CF-229674DE1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E96D2-5467-AE8B-D3B4-9A0099B24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C617C-8CF5-DB6D-028B-C6B3D4877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D9512-3693-68BD-F3EB-364AD8139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D6BAB-A89C-516D-AA37-1B069C00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7A043-5417-29A9-0D4E-6B0F0586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788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A5AD6-0F79-65CA-A9C5-4E110EE4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71FBFC-C461-276D-E783-70D0A5CF9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D59ED-A5AE-C07C-55EE-C3F5FEBE6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2E452-F4A3-989C-A60C-457E43778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7C387-74F7-4BFC-46F4-166C02C2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30D36-EA89-0195-DEE1-45A55F029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9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7ABC0-8E8A-1ACB-046D-733B320CA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52E59-953D-9360-5269-DC200B83C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8F9CC-8001-8463-24C9-0E4B2213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20537-39CE-51A3-FB31-A6A3C2DA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00591-5951-CAF3-FA72-45F8D2C19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29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1275F-15F6-2C51-312C-A8BE920D96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38DB2-3AB5-CED0-9AD6-1F5424C45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DF917-CE56-6267-AC2C-13CD7E78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5DBDA-BB05-E493-AFB3-6445202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073AD-40E0-7E79-C33A-B1BFDAC8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19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8C97D-791D-30CB-3F3F-EDAAC90F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253A7-39A6-9058-E650-0BD733438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E352A-68B7-D0B2-2AC5-C6CFE5435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AD102-BDCF-4801-97FA-52A11799162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FBB03-7418-1ECD-6BCA-A41C62C49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A0548-2FC6-E1C1-2019-5E89C3BF5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70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9BAC5-82E6-4027-A5D6-31F7830FE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DFE99453-475D-95DD-9343-04812F8331D3}"/>
              </a:ext>
            </a:extLst>
          </p:cNvPr>
          <p:cNvSpPr/>
          <p:nvPr/>
        </p:nvSpPr>
        <p:spPr>
          <a:xfrm>
            <a:off x="90519" y="116294"/>
            <a:ext cx="3047956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1A6E2CD-15A6-645E-A28C-C7885A08A712}"/>
              </a:ext>
            </a:extLst>
          </p:cNvPr>
          <p:cNvSpPr/>
          <p:nvPr/>
        </p:nvSpPr>
        <p:spPr>
          <a:xfrm>
            <a:off x="90519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9FC6E67-34F4-8903-DA64-6DD100F8CB08}"/>
              </a:ext>
            </a:extLst>
          </p:cNvPr>
          <p:cNvSpPr/>
          <p:nvPr/>
        </p:nvSpPr>
        <p:spPr>
          <a:xfrm>
            <a:off x="252666" y="410783"/>
            <a:ext cx="2692361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Stage 1: focal domain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1BCE705F-2982-C3E8-4319-404D7EE292A0}"/>
              </a:ext>
            </a:extLst>
          </p:cNvPr>
          <p:cNvSpPr/>
          <p:nvPr/>
        </p:nvSpPr>
        <p:spPr>
          <a:xfrm>
            <a:off x="252666" y="1065205"/>
            <a:ext cx="2692361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4,119 monthly facility-product family planning time series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E36FC85D-FF2F-6D29-A720-9E42484AD70A}"/>
              </a:ext>
            </a:extLst>
          </p:cNvPr>
          <p:cNvSpPr/>
          <p:nvPr/>
        </p:nvSpPr>
        <p:spPr>
          <a:xfrm>
            <a:off x="4459256" y="116294"/>
            <a:ext cx="3251153" cy="19632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FCA8285-549C-FEDD-B21F-313EAB7D346B}"/>
              </a:ext>
            </a:extLst>
          </p:cNvPr>
          <p:cNvSpPr/>
          <p:nvPr/>
        </p:nvSpPr>
        <p:spPr>
          <a:xfrm>
            <a:off x="4459256" y="116294"/>
            <a:ext cx="81279" cy="1963263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D63E1D7-897B-4866-4257-65CCEDF03990}"/>
              </a:ext>
            </a:extLst>
          </p:cNvPr>
          <p:cNvSpPr/>
          <p:nvPr/>
        </p:nvSpPr>
        <p:spPr>
          <a:xfrm>
            <a:off x="4621403" y="410783"/>
            <a:ext cx="2895559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Model pool</a:t>
            </a:r>
            <a:endParaRPr lang="en-US" sz="1400" dirty="0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D0146BF-B202-E2D3-B07A-3461B6CD8708}"/>
              </a:ext>
            </a:extLst>
          </p:cNvPr>
          <p:cNvSpPr/>
          <p:nvPr/>
        </p:nvSpPr>
        <p:spPr>
          <a:xfrm>
            <a:off x="4621403" y="1065205"/>
            <a:ext cx="2895559" cy="736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5 statistical baselines </a:t>
            </a:r>
          </a:p>
          <a:p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33 TSFM models</a:t>
            </a:r>
          </a:p>
          <a:p>
            <a:pPr marL="0" indent="0">
              <a:buNone/>
            </a:pPr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Practical screening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1AC012C-FA76-025E-12E1-F50CC12490C3}"/>
              </a:ext>
            </a:extLst>
          </p:cNvPr>
          <p:cNvSpPr/>
          <p:nvPr/>
        </p:nvSpPr>
        <p:spPr>
          <a:xfrm>
            <a:off x="8827994" y="116294"/>
            <a:ext cx="3251152" cy="19632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7A4F0560-0468-2A45-5A0C-E7E5B7CEF38D}"/>
              </a:ext>
            </a:extLst>
          </p:cNvPr>
          <p:cNvSpPr/>
          <p:nvPr/>
        </p:nvSpPr>
        <p:spPr>
          <a:xfrm>
            <a:off x="8827994" y="116294"/>
            <a:ext cx="81279" cy="1963263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FF2B027F-B42F-424B-BDA3-81D34296E46F}"/>
              </a:ext>
            </a:extLst>
          </p:cNvPr>
          <p:cNvSpPr/>
          <p:nvPr/>
        </p:nvSpPr>
        <p:spPr>
          <a:xfrm>
            <a:off x="8990141" y="410783"/>
            <a:ext cx="2641562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Evaluation setup</a:t>
            </a:r>
            <a:endParaRPr lang="en-US" sz="1400" dirty="0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DF0D2204-59E1-E5F7-4866-BC4E6211EC67}"/>
              </a:ext>
            </a:extLst>
          </p:cNvPr>
          <p:cNvSpPr/>
          <p:nvPr/>
        </p:nvSpPr>
        <p:spPr>
          <a:xfrm>
            <a:off x="8990141" y="1065205"/>
            <a:ext cx="2641562" cy="736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Horizons: 1, 3, 6 months</a:t>
            </a:r>
          </a:p>
          <a:p>
            <a:pPr marL="0" indent="0">
              <a:buNone/>
            </a:pPr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Rolling-origin</a:t>
            </a: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ACCA0D30-7D29-A9E5-E711-46C8D13E9141}"/>
              </a:ext>
            </a:extLst>
          </p:cNvPr>
          <p:cNvSpPr/>
          <p:nvPr/>
        </p:nvSpPr>
        <p:spPr>
          <a:xfrm>
            <a:off x="3138475" y="1097926"/>
            <a:ext cx="1320781" cy="0"/>
          </a:xfrm>
          <a:prstGeom prst="line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93B93141-55C8-6F07-E4C1-C923E85D6B35}"/>
              </a:ext>
            </a:extLst>
          </p:cNvPr>
          <p:cNvSpPr/>
          <p:nvPr/>
        </p:nvSpPr>
        <p:spPr>
          <a:xfrm>
            <a:off x="7710410" y="1097926"/>
            <a:ext cx="1117583" cy="0"/>
          </a:xfrm>
          <a:prstGeom prst="line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BA521EAB-779D-6363-C928-447E365170DB}"/>
              </a:ext>
            </a:extLst>
          </p:cNvPr>
          <p:cNvSpPr/>
          <p:nvPr/>
        </p:nvSpPr>
        <p:spPr>
          <a:xfrm>
            <a:off x="90519" y="2921788"/>
            <a:ext cx="3047956" cy="22086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8786786C-740E-DB4E-C963-C4790901C052}"/>
              </a:ext>
            </a:extLst>
          </p:cNvPr>
          <p:cNvSpPr/>
          <p:nvPr/>
        </p:nvSpPr>
        <p:spPr>
          <a:xfrm>
            <a:off x="90519" y="2921788"/>
            <a:ext cx="81279" cy="220867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2DFD4A1C-3606-8B93-1613-47D25855E383}"/>
              </a:ext>
            </a:extLst>
          </p:cNvPr>
          <p:cNvSpPr/>
          <p:nvPr/>
        </p:nvSpPr>
        <p:spPr>
          <a:xfrm>
            <a:off x="252665" y="3216277"/>
            <a:ext cx="2824439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Forecast quality measures</a:t>
            </a:r>
            <a:endParaRPr lang="en-US" sz="1400" dirty="0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17BE8EFA-6FD8-FC4E-4087-194DFFD61880}"/>
              </a:ext>
            </a:extLst>
          </p:cNvPr>
          <p:cNvSpPr/>
          <p:nvPr/>
        </p:nvSpPr>
        <p:spPr>
          <a:xfrm>
            <a:off x="252666" y="3870698"/>
            <a:ext cx="2824440" cy="981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Root Mean Squared Scaled Error</a:t>
            </a:r>
          </a:p>
          <a:p>
            <a:pPr marL="0" indent="0">
              <a:buNone/>
            </a:pPr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Scaled Pinball Loss</a:t>
            </a:r>
          </a:p>
          <a:p>
            <a:pPr marL="0" indent="0">
              <a:buNone/>
            </a:pPr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Calibration and coverage</a:t>
            </a:r>
          </a:p>
          <a:p>
            <a:pPr marL="0" indent="0">
              <a:buNone/>
            </a:pPr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Runtime </a:t>
            </a:r>
          </a:p>
          <a:p>
            <a:pPr marL="0" indent="0">
              <a:buNone/>
            </a:pPr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Configuration</a:t>
            </a:r>
          </a:p>
          <a:p>
            <a:pPr marL="0" indent="0">
              <a:buNone/>
            </a:pPr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Maintainability</a:t>
            </a: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664C9906-90B5-1169-9F84-E3C9730344E8}"/>
              </a:ext>
            </a:extLst>
          </p:cNvPr>
          <p:cNvSpPr/>
          <p:nvPr/>
        </p:nvSpPr>
        <p:spPr>
          <a:xfrm>
            <a:off x="4459256" y="2921788"/>
            <a:ext cx="3251153" cy="22086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260322E3-0FE5-63DE-7E32-E367BE5D3CCA}"/>
              </a:ext>
            </a:extLst>
          </p:cNvPr>
          <p:cNvSpPr/>
          <p:nvPr/>
        </p:nvSpPr>
        <p:spPr>
          <a:xfrm>
            <a:off x="4459256" y="2921788"/>
            <a:ext cx="81279" cy="220867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BFEE900E-45F7-7982-36BB-88442F063AF6}"/>
              </a:ext>
            </a:extLst>
          </p:cNvPr>
          <p:cNvSpPr/>
          <p:nvPr/>
        </p:nvSpPr>
        <p:spPr>
          <a:xfrm>
            <a:off x="4621402" y="3216277"/>
            <a:ext cx="3047956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Stage 2: portability</a:t>
            </a:r>
            <a:endParaRPr lang="en-US" sz="1450" dirty="0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2559A550-CBD6-74A3-6DE7-2E0A93C84E74}"/>
              </a:ext>
            </a:extLst>
          </p:cNvPr>
          <p:cNvSpPr/>
          <p:nvPr/>
        </p:nvSpPr>
        <p:spPr>
          <a:xfrm>
            <a:off x="4621402" y="3870698"/>
            <a:ext cx="3047956" cy="981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20,736 monthly Lao multi-domain public health series</a:t>
            </a:r>
          </a:p>
          <a:p>
            <a:pPr marL="0" indent="0">
              <a:buNone/>
            </a:pPr>
            <a:r>
              <a:rPr lang="en-US" sz="1400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Shortlisted feasible models only</a:t>
            </a: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762D4A6F-55BA-8C12-8C43-174DF6FDC03B}"/>
              </a:ext>
            </a:extLst>
          </p:cNvPr>
          <p:cNvSpPr/>
          <p:nvPr/>
        </p:nvSpPr>
        <p:spPr>
          <a:xfrm flipV="1">
            <a:off x="3138475" y="4017941"/>
            <a:ext cx="1320781" cy="1"/>
          </a:xfrm>
          <a:prstGeom prst="line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D65B7B1-D73E-36D3-A43B-A70749C1FB21}"/>
              </a:ext>
            </a:extLst>
          </p:cNvPr>
          <p:cNvSpPr/>
          <p:nvPr/>
        </p:nvSpPr>
        <p:spPr>
          <a:xfrm>
            <a:off x="8827993" y="2921788"/>
            <a:ext cx="3251153" cy="22086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7E8C9AFC-4451-2D4D-8F1C-EBB166E1D4DF}"/>
              </a:ext>
            </a:extLst>
          </p:cNvPr>
          <p:cNvSpPr/>
          <p:nvPr/>
        </p:nvSpPr>
        <p:spPr>
          <a:xfrm>
            <a:off x="8827993" y="2921788"/>
            <a:ext cx="81279" cy="220867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FE13E474-36C8-5665-43BE-A01B9FA8BEB0}"/>
              </a:ext>
            </a:extLst>
          </p:cNvPr>
          <p:cNvSpPr/>
          <p:nvPr/>
        </p:nvSpPr>
        <p:spPr>
          <a:xfrm flipV="1">
            <a:off x="7710409" y="4017941"/>
            <a:ext cx="1137904" cy="0"/>
          </a:xfrm>
          <a:prstGeom prst="line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noFill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1B3855C2-E1E8-650D-C88A-1B872B97E2E2}"/>
              </a:ext>
            </a:extLst>
          </p:cNvPr>
          <p:cNvSpPr/>
          <p:nvPr/>
        </p:nvSpPr>
        <p:spPr>
          <a:xfrm>
            <a:off x="9071418" y="3797076"/>
            <a:ext cx="2803507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50" b="1" dirty="0">
                <a:noFill/>
                <a:latin typeface="Inter" panose="02000503000000020004" pitchFamily="2" charset="0"/>
                <a:ea typeface="Inter" panose="02000503000000020004" pitchFamily="2" charset="0"/>
              </a:rPr>
              <a:t>Operational guidelines and model selection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20E40B3-6FD0-C353-64A9-0E02F5F66582}"/>
              </a:ext>
            </a:extLst>
          </p:cNvPr>
          <p:cNvCxnSpPr>
            <a:stCxn id="12" idx="2"/>
            <a:endCxn id="18" idx="0"/>
          </p:cNvCxnSpPr>
          <p:nvPr/>
        </p:nvCxnSpPr>
        <p:spPr>
          <a:xfrm rot="5400000">
            <a:off x="5612919" y="-1918864"/>
            <a:ext cx="842231" cy="8839073"/>
          </a:xfrm>
          <a:prstGeom prst="bentConnector3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782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0CD3F-A233-1138-19BE-4333BBD46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A848C2E4-6D08-9207-68C3-8F2FD37E7138}"/>
              </a:ext>
            </a:extLst>
          </p:cNvPr>
          <p:cNvSpPr/>
          <p:nvPr/>
        </p:nvSpPr>
        <p:spPr>
          <a:xfrm>
            <a:off x="90519" y="116294"/>
            <a:ext cx="3047956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CFEEB3D-2039-4AEC-21CF-9EE39F1A3B34}"/>
              </a:ext>
            </a:extLst>
          </p:cNvPr>
          <p:cNvSpPr/>
          <p:nvPr/>
        </p:nvSpPr>
        <p:spPr>
          <a:xfrm>
            <a:off x="90519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9EF20C7E-16EB-C04B-34CF-2D41BD1CA04A}"/>
              </a:ext>
            </a:extLst>
          </p:cNvPr>
          <p:cNvSpPr/>
          <p:nvPr/>
        </p:nvSpPr>
        <p:spPr>
          <a:xfrm>
            <a:off x="252666" y="410783"/>
            <a:ext cx="2692361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Stage 1: focal domain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3B2D2EE5-D9F4-2812-9C75-F5FF15926454}"/>
              </a:ext>
            </a:extLst>
          </p:cNvPr>
          <p:cNvSpPr/>
          <p:nvPr/>
        </p:nvSpPr>
        <p:spPr>
          <a:xfrm>
            <a:off x="4459256" y="116294"/>
            <a:ext cx="3251153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EF113BB1-4916-CAA6-9147-D20542C744F4}"/>
              </a:ext>
            </a:extLst>
          </p:cNvPr>
          <p:cNvSpPr/>
          <p:nvPr/>
        </p:nvSpPr>
        <p:spPr>
          <a:xfrm>
            <a:off x="4459256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792CB52-371D-3016-F850-BB5CEB66EC3E}"/>
              </a:ext>
            </a:extLst>
          </p:cNvPr>
          <p:cNvSpPr/>
          <p:nvPr/>
        </p:nvSpPr>
        <p:spPr>
          <a:xfrm>
            <a:off x="4621403" y="410783"/>
            <a:ext cx="2895559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Model pool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E47961F-1E15-A57A-FBAC-54DD5AD07CCA}"/>
              </a:ext>
            </a:extLst>
          </p:cNvPr>
          <p:cNvSpPr/>
          <p:nvPr/>
        </p:nvSpPr>
        <p:spPr>
          <a:xfrm>
            <a:off x="4621403" y="1065205"/>
            <a:ext cx="2895559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5 statistical baselines 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33 TSFM models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Practical screening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B0DAF683-320C-993F-0930-274578945744}"/>
              </a:ext>
            </a:extLst>
          </p:cNvPr>
          <p:cNvSpPr/>
          <p:nvPr/>
        </p:nvSpPr>
        <p:spPr>
          <a:xfrm>
            <a:off x="8827994" y="116294"/>
            <a:ext cx="3251152" cy="19632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373EC5C2-475B-A1D0-F52B-F462CE814C72}"/>
              </a:ext>
            </a:extLst>
          </p:cNvPr>
          <p:cNvSpPr/>
          <p:nvPr/>
        </p:nvSpPr>
        <p:spPr>
          <a:xfrm>
            <a:off x="8827994" y="116294"/>
            <a:ext cx="81279" cy="1963263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5074D2A-B7CD-BA9A-395F-AE5223B207AE}"/>
              </a:ext>
            </a:extLst>
          </p:cNvPr>
          <p:cNvSpPr/>
          <p:nvPr/>
        </p:nvSpPr>
        <p:spPr>
          <a:xfrm>
            <a:off x="8990141" y="410783"/>
            <a:ext cx="2641562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Evaluation setup</a:t>
            </a:r>
            <a:endParaRPr lang="en-US" sz="14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E78FAA9E-F1CB-CE46-F3A2-0A30EB0AAB12}"/>
              </a:ext>
            </a:extLst>
          </p:cNvPr>
          <p:cNvSpPr/>
          <p:nvPr/>
        </p:nvSpPr>
        <p:spPr>
          <a:xfrm>
            <a:off x="8990141" y="1065205"/>
            <a:ext cx="2641562" cy="736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Horizons: 1, 3, 6 months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Rolling-origin</a:t>
            </a: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8AA841FD-9B41-A348-6E9E-5A491778AC1B}"/>
              </a:ext>
            </a:extLst>
          </p:cNvPr>
          <p:cNvSpPr/>
          <p:nvPr/>
        </p:nvSpPr>
        <p:spPr>
          <a:xfrm>
            <a:off x="3138475" y="1097926"/>
            <a:ext cx="1320781" cy="0"/>
          </a:xfrm>
          <a:prstGeom prst="line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2EA09CB0-1765-F2B0-0B25-4E88C9D7921A}"/>
              </a:ext>
            </a:extLst>
          </p:cNvPr>
          <p:cNvSpPr/>
          <p:nvPr/>
        </p:nvSpPr>
        <p:spPr>
          <a:xfrm>
            <a:off x="7710410" y="1097926"/>
            <a:ext cx="1117583" cy="0"/>
          </a:xfrm>
          <a:prstGeom prst="line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B6BDBA22-44AA-6815-220C-4FFE61EDF920}"/>
              </a:ext>
            </a:extLst>
          </p:cNvPr>
          <p:cNvSpPr/>
          <p:nvPr/>
        </p:nvSpPr>
        <p:spPr>
          <a:xfrm>
            <a:off x="90519" y="2921788"/>
            <a:ext cx="3047956" cy="22086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8A64FFFF-BB72-8B7A-D9A1-C7D2CB5B7B7E}"/>
              </a:ext>
            </a:extLst>
          </p:cNvPr>
          <p:cNvSpPr/>
          <p:nvPr/>
        </p:nvSpPr>
        <p:spPr>
          <a:xfrm>
            <a:off x="90519" y="2921788"/>
            <a:ext cx="81279" cy="220867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9189499F-8ECD-4168-9330-0E4CD71F54BE}"/>
              </a:ext>
            </a:extLst>
          </p:cNvPr>
          <p:cNvSpPr/>
          <p:nvPr/>
        </p:nvSpPr>
        <p:spPr>
          <a:xfrm>
            <a:off x="252665" y="3216277"/>
            <a:ext cx="2824439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Forecast quality measures</a:t>
            </a:r>
            <a:endParaRPr lang="en-US" sz="14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9877B235-F0A5-662A-E2CF-A13750A1ED28}"/>
              </a:ext>
            </a:extLst>
          </p:cNvPr>
          <p:cNvSpPr/>
          <p:nvPr/>
        </p:nvSpPr>
        <p:spPr>
          <a:xfrm>
            <a:off x="252666" y="3870698"/>
            <a:ext cx="2824440" cy="981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Root Mean Squared Scaled Error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Scaled Pinball Loss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Calibration and coverage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Runtime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Configuration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Maintainability</a:t>
            </a: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50FDB9B8-2432-D369-A5CF-0F3BA378157A}"/>
              </a:ext>
            </a:extLst>
          </p:cNvPr>
          <p:cNvSpPr/>
          <p:nvPr/>
        </p:nvSpPr>
        <p:spPr>
          <a:xfrm>
            <a:off x="4459256" y="2921788"/>
            <a:ext cx="3251153" cy="22086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313AEF6F-31F0-5C11-F930-AB47894BDEB2}"/>
              </a:ext>
            </a:extLst>
          </p:cNvPr>
          <p:cNvSpPr/>
          <p:nvPr/>
        </p:nvSpPr>
        <p:spPr>
          <a:xfrm>
            <a:off x="4459256" y="2921788"/>
            <a:ext cx="81279" cy="220867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3B1F7895-2EDD-7C96-8FD7-008D6943C4C0}"/>
              </a:ext>
            </a:extLst>
          </p:cNvPr>
          <p:cNvSpPr/>
          <p:nvPr/>
        </p:nvSpPr>
        <p:spPr>
          <a:xfrm>
            <a:off x="4621402" y="3216277"/>
            <a:ext cx="3047956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Stage 2: portability</a:t>
            </a:r>
            <a:endParaRPr lang="en-US" sz="145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AF8E932-0A31-A1AF-F6D2-FDE8F19D652B}"/>
              </a:ext>
            </a:extLst>
          </p:cNvPr>
          <p:cNvSpPr/>
          <p:nvPr/>
        </p:nvSpPr>
        <p:spPr>
          <a:xfrm>
            <a:off x="4621402" y="3870698"/>
            <a:ext cx="3047956" cy="981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20,736 monthly Lao multi-domain public health series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Shortlisted feasible models only</a:t>
            </a: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899444C2-3E84-CA74-2029-9A3599E06A48}"/>
              </a:ext>
            </a:extLst>
          </p:cNvPr>
          <p:cNvSpPr/>
          <p:nvPr/>
        </p:nvSpPr>
        <p:spPr>
          <a:xfrm flipV="1">
            <a:off x="3138475" y="4017941"/>
            <a:ext cx="1320781" cy="1"/>
          </a:xfrm>
          <a:prstGeom prst="line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E305E775-4C79-AC0F-362F-71B69D74809E}"/>
              </a:ext>
            </a:extLst>
          </p:cNvPr>
          <p:cNvSpPr/>
          <p:nvPr/>
        </p:nvSpPr>
        <p:spPr>
          <a:xfrm>
            <a:off x="8827993" y="2921788"/>
            <a:ext cx="3251153" cy="22086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CDA57728-5F2F-94A0-BB64-96362F4DD84C}"/>
              </a:ext>
            </a:extLst>
          </p:cNvPr>
          <p:cNvSpPr/>
          <p:nvPr/>
        </p:nvSpPr>
        <p:spPr>
          <a:xfrm>
            <a:off x="8827993" y="2921788"/>
            <a:ext cx="81279" cy="220867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5616BE29-710F-8CDE-1C06-D06719D269CB}"/>
              </a:ext>
            </a:extLst>
          </p:cNvPr>
          <p:cNvSpPr/>
          <p:nvPr/>
        </p:nvSpPr>
        <p:spPr>
          <a:xfrm flipV="1">
            <a:off x="7710409" y="4017941"/>
            <a:ext cx="1137904" cy="0"/>
          </a:xfrm>
          <a:prstGeom prst="line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9772A682-3597-B1D0-2868-A010266C9CA0}"/>
              </a:ext>
            </a:extLst>
          </p:cNvPr>
          <p:cNvSpPr/>
          <p:nvPr/>
        </p:nvSpPr>
        <p:spPr>
          <a:xfrm>
            <a:off x="9071418" y="3797076"/>
            <a:ext cx="2803507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5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Operational guidelines and model selection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B98CE0A-FB70-0DB7-0851-7FA3569235EF}"/>
              </a:ext>
            </a:extLst>
          </p:cNvPr>
          <p:cNvCxnSpPr>
            <a:stCxn id="12" idx="2"/>
            <a:endCxn id="18" idx="0"/>
          </p:cNvCxnSpPr>
          <p:nvPr/>
        </p:nvCxnSpPr>
        <p:spPr>
          <a:xfrm rot="5400000">
            <a:off x="5612919" y="-1918864"/>
            <a:ext cx="842231" cy="8839073"/>
          </a:xfrm>
          <a:prstGeom prst="bentConnector3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 6">
            <a:extLst>
              <a:ext uri="{FF2B5EF4-FFF2-40B4-BE49-F238E27FC236}">
                <a16:creationId xmlns:a16="http://schemas.microsoft.com/office/drawing/2014/main" id="{E8AEA663-7237-F57F-2257-E5F1EACBEF83}"/>
              </a:ext>
            </a:extLst>
          </p:cNvPr>
          <p:cNvSpPr/>
          <p:nvPr/>
        </p:nvSpPr>
        <p:spPr>
          <a:xfrm>
            <a:off x="252666" y="1065205"/>
            <a:ext cx="2692361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4,119 monthly facility-product family planning time series</a:t>
            </a:r>
          </a:p>
        </p:txBody>
      </p:sp>
    </p:spTree>
    <p:extLst>
      <p:ext uri="{BB962C8B-B14F-4D97-AF65-F5344CB8AC3E}">
        <p14:creationId xmlns:p14="http://schemas.microsoft.com/office/powerpoint/2010/main" val="3209549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EAA4-D9D7-81EF-8F19-6F80AC59D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015C5DBC-E83F-475A-3A9A-FE80F8F70DCE}"/>
              </a:ext>
            </a:extLst>
          </p:cNvPr>
          <p:cNvSpPr/>
          <p:nvPr/>
        </p:nvSpPr>
        <p:spPr>
          <a:xfrm>
            <a:off x="90519" y="116294"/>
            <a:ext cx="3047956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6650353-533E-86BD-BA75-5C67D3DDE0E9}"/>
              </a:ext>
            </a:extLst>
          </p:cNvPr>
          <p:cNvSpPr/>
          <p:nvPr/>
        </p:nvSpPr>
        <p:spPr>
          <a:xfrm>
            <a:off x="90519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49371CA-39AB-EC7A-A747-A093ED144415}"/>
              </a:ext>
            </a:extLst>
          </p:cNvPr>
          <p:cNvSpPr/>
          <p:nvPr/>
        </p:nvSpPr>
        <p:spPr>
          <a:xfrm>
            <a:off x="252666" y="410783"/>
            <a:ext cx="2692361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Stage 1: focal domain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953FD3CD-11F6-ED5A-B716-13993E81061D}"/>
              </a:ext>
            </a:extLst>
          </p:cNvPr>
          <p:cNvSpPr/>
          <p:nvPr/>
        </p:nvSpPr>
        <p:spPr>
          <a:xfrm>
            <a:off x="4459256" y="116294"/>
            <a:ext cx="3251153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E3A356E7-B203-7120-21B2-83FAE37E2A3C}"/>
              </a:ext>
            </a:extLst>
          </p:cNvPr>
          <p:cNvSpPr/>
          <p:nvPr/>
        </p:nvSpPr>
        <p:spPr>
          <a:xfrm>
            <a:off x="4459256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2206178-F130-D010-854A-F21B9AF47127}"/>
              </a:ext>
            </a:extLst>
          </p:cNvPr>
          <p:cNvSpPr/>
          <p:nvPr/>
        </p:nvSpPr>
        <p:spPr>
          <a:xfrm>
            <a:off x="4621403" y="410783"/>
            <a:ext cx="2895559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Model pool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D9AF40C2-7A52-0F34-0447-8D591CB7B6CD}"/>
              </a:ext>
            </a:extLst>
          </p:cNvPr>
          <p:cNvSpPr/>
          <p:nvPr/>
        </p:nvSpPr>
        <p:spPr>
          <a:xfrm>
            <a:off x="4621403" y="1065205"/>
            <a:ext cx="2895559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5 statistical baselines 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33 TSFM models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Practical screening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E5D21B1A-2B9D-B618-1217-8C62E27664FA}"/>
              </a:ext>
            </a:extLst>
          </p:cNvPr>
          <p:cNvSpPr/>
          <p:nvPr/>
        </p:nvSpPr>
        <p:spPr>
          <a:xfrm>
            <a:off x="8827994" y="116294"/>
            <a:ext cx="3251152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1DC68306-4131-3F95-167F-1EBF615707E5}"/>
              </a:ext>
            </a:extLst>
          </p:cNvPr>
          <p:cNvSpPr/>
          <p:nvPr/>
        </p:nvSpPr>
        <p:spPr>
          <a:xfrm>
            <a:off x="8827994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E017741-4C2B-7FBF-FB5F-15C4A52DC2CD}"/>
              </a:ext>
            </a:extLst>
          </p:cNvPr>
          <p:cNvSpPr/>
          <p:nvPr/>
        </p:nvSpPr>
        <p:spPr>
          <a:xfrm>
            <a:off x="8990141" y="410783"/>
            <a:ext cx="2641562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Evaluation setup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77AC58A1-AA82-FDC7-F99D-01B0D2224E48}"/>
              </a:ext>
            </a:extLst>
          </p:cNvPr>
          <p:cNvSpPr/>
          <p:nvPr/>
        </p:nvSpPr>
        <p:spPr>
          <a:xfrm>
            <a:off x="3138475" y="1097926"/>
            <a:ext cx="1320781" cy="0"/>
          </a:xfrm>
          <a:prstGeom prst="line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87A5E198-DBE3-5438-5201-BBB7FF34A235}"/>
              </a:ext>
            </a:extLst>
          </p:cNvPr>
          <p:cNvSpPr/>
          <p:nvPr/>
        </p:nvSpPr>
        <p:spPr>
          <a:xfrm>
            <a:off x="7710410" y="1097926"/>
            <a:ext cx="1117583" cy="0"/>
          </a:xfrm>
          <a:prstGeom prst="line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752855C4-3284-9A9B-2A0E-6B1834A195EA}"/>
              </a:ext>
            </a:extLst>
          </p:cNvPr>
          <p:cNvSpPr/>
          <p:nvPr/>
        </p:nvSpPr>
        <p:spPr>
          <a:xfrm>
            <a:off x="90519" y="2921788"/>
            <a:ext cx="3047956" cy="22086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91C163A9-E1FF-B1EF-16FE-D501D530AF89}"/>
              </a:ext>
            </a:extLst>
          </p:cNvPr>
          <p:cNvSpPr/>
          <p:nvPr/>
        </p:nvSpPr>
        <p:spPr>
          <a:xfrm>
            <a:off x="90519" y="2921788"/>
            <a:ext cx="81279" cy="220867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075F1A5-D9C6-82E1-918F-2E9D60BECB17}"/>
              </a:ext>
            </a:extLst>
          </p:cNvPr>
          <p:cNvSpPr/>
          <p:nvPr/>
        </p:nvSpPr>
        <p:spPr>
          <a:xfrm>
            <a:off x="252665" y="3216277"/>
            <a:ext cx="2824439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Forecast quality measures</a:t>
            </a:r>
            <a:endParaRPr lang="en-US" sz="14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5EAF9B6E-0A4D-D5C9-721C-DCD2A155BA9B}"/>
              </a:ext>
            </a:extLst>
          </p:cNvPr>
          <p:cNvSpPr/>
          <p:nvPr/>
        </p:nvSpPr>
        <p:spPr>
          <a:xfrm>
            <a:off x="252666" y="3870698"/>
            <a:ext cx="2824440" cy="981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Root Mean Squared Scaled Error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Scaled Pinball Loss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Calibration and coverage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Runtime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Configuration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Maintainability</a:t>
            </a: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180725FD-2C4D-6F7F-0C14-9026AE45C475}"/>
              </a:ext>
            </a:extLst>
          </p:cNvPr>
          <p:cNvSpPr/>
          <p:nvPr/>
        </p:nvSpPr>
        <p:spPr>
          <a:xfrm>
            <a:off x="4459256" y="2921788"/>
            <a:ext cx="3251153" cy="22086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82166373-49E7-C87A-43F9-72679F861E0B}"/>
              </a:ext>
            </a:extLst>
          </p:cNvPr>
          <p:cNvSpPr/>
          <p:nvPr/>
        </p:nvSpPr>
        <p:spPr>
          <a:xfrm>
            <a:off x="4459256" y="2921788"/>
            <a:ext cx="81279" cy="220867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A575C73B-3FED-3A41-C0BB-5C63A4B3B84F}"/>
              </a:ext>
            </a:extLst>
          </p:cNvPr>
          <p:cNvSpPr/>
          <p:nvPr/>
        </p:nvSpPr>
        <p:spPr>
          <a:xfrm>
            <a:off x="4621402" y="3216277"/>
            <a:ext cx="3047956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Stage 2: portability</a:t>
            </a:r>
            <a:endParaRPr lang="en-US" sz="145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C93631D9-0B16-F74A-FA8F-3C167FCB375E}"/>
              </a:ext>
            </a:extLst>
          </p:cNvPr>
          <p:cNvSpPr/>
          <p:nvPr/>
        </p:nvSpPr>
        <p:spPr>
          <a:xfrm>
            <a:off x="4621402" y="3870698"/>
            <a:ext cx="3047956" cy="981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20,736 monthly Lao multi-domain public health series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Shortlisted feasible models only</a:t>
            </a: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D811A75E-B055-32E7-95EE-58B2F335EB78}"/>
              </a:ext>
            </a:extLst>
          </p:cNvPr>
          <p:cNvSpPr/>
          <p:nvPr/>
        </p:nvSpPr>
        <p:spPr>
          <a:xfrm flipV="1">
            <a:off x="3138475" y="4017941"/>
            <a:ext cx="1320781" cy="1"/>
          </a:xfrm>
          <a:prstGeom prst="line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01EDE4D6-6380-BFD2-6534-F2493BADDE03}"/>
              </a:ext>
            </a:extLst>
          </p:cNvPr>
          <p:cNvSpPr/>
          <p:nvPr/>
        </p:nvSpPr>
        <p:spPr>
          <a:xfrm>
            <a:off x="8827993" y="2921788"/>
            <a:ext cx="3251153" cy="22086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2D58E9DE-B5CF-D339-3E17-BD55F75615A3}"/>
              </a:ext>
            </a:extLst>
          </p:cNvPr>
          <p:cNvSpPr/>
          <p:nvPr/>
        </p:nvSpPr>
        <p:spPr>
          <a:xfrm>
            <a:off x="8827993" y="2921788"/>
            <a:ext cx="81279" cy="220867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4A68FD13-552E-EE6D-4809-FCF1A33249C7}"/>
              </a:ext>
            </a:extLst>
          </p:cNvPr>
          <p:cNvSpPr/>
          <p:nvPr/>
        </p:nvSpPr>
        <p:spPr>
          <a:xfrm flipV="1">
            <a:off x="7710409" y="4017941"/>
            <a:ext cx="1137904" cy="0"/>
          </a:xfrm>
          <a:prstGeom prst="line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5A5F7C6D-18C6-4B79-AD38-4F055471D337}"/>
              </a:ext>
            </a:extLst>
          </p:cNvPr>
          <p:cNvSpPr/>
          <p:nvPr/>
        </p:nvSpPr>
        <p:spPr>
          <a:xfrm>
            <a:off x="9071418" y="3797076"/>
            <a:ext cx="2803507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5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Operational guidelines and model selection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F39971D-B331-2B61-89CB-407678C965B7}"/>
              </a:ext>
            </a:extLst>
          </p:cNvPr>
          <p:cNvCxnSpPr>
            <a:stCxn id="12" idx="2"/>
            <a:endCxn id="18" idx="0"/>
          </p:cNvCxnSpPr>
          <p:nvPr/>
        </p:nvCxnSpPr>
        <p:spPr>
          <a:xfrm rot="5400000">
            <a:off x="5612919" y="-1918864"/>
            <a:ext cx="842231" cy="8839073"/>
          </a:xfrm>
          <a:prstGeom prst="bentConnector3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 6">
            <a:extLst>
              <a:ext uri="{FF2B5EF4-FFF2-40B4-BE49-F238E27FC236}">
                <a16:creationId xmlns:a16="http://schemas.microsoft.com/office/drawing/2014/main" id="{F6F49215-1490-2CCC-9719-0DCCA1B837C2}"/>
              </a:ext>
            </a:extLst>
          </p:cNvPr>
          <p:cNvSpPr/>
          <p:nvPr/>
        </p:nvSpPr>
        <p:spPr>
          <a:xfrm>
            <a:off x="252666" y="1065205"/>
            <a:ext cx="2692361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4,119 monthly facility-product family planning time series</a:t>
            </a:r>
          </a:p>
        </p:txBody>
      </p:sp>
      <p:sp>
        <p:nvSpPr>
          <p:cNvPr id="3" name="Text 14">
            <a:extLst>
              <a:ext uri="{FF2B5EF4-FFF2-40B4-BE49-F238E27FC236}">
                <a16:creationId xmlns:a16="http://schemas.microsoft.com/office/drawing/2014/main" id="{5680D7FF-C26F-CD1E-FF3C-FDA39801A90F}"/>
              </a:ext>
            </a:extLst>
          </p:cNvPr>
          <p:cNvSpPr/>
          <p:nvPr/>
        </p:nvSpPr>
        <p:spPr>
          <a:xfrm>
            <a:off x="8990140" y="1065205"/>
            <a:ext cx="3089005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Horizons: 1, 3, 6 months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18 months hold out set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Rolling-origin with 1 month sliding window </a:t>
            </a:r>
          </a:p>
        </p:txBody>
      </p:sp>
    </p:spTree>
    <p:extLst>
      <p:ext uri="{BB962C8B-B14F-4D97-AF65-F5344CB8AC3E}">
        <p14:creationId xmlns:p14="http://schemas.microsoft.com/office/powerpoint/2010/main" val="1298947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588AE-7D6B-C635-7011-E70E391F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49F58B78-DEF6-237F-B071-2F166479E390}"/>
              </a:ext>
            </a:extLst>
          </p:cNvPr>
          <p:cNvSpPr/>
          <p:nvPr/>
        </p:nvSpPr>
        <p:spPr>
          <a:xfrm>
            <a:off x="90519" y="116294"/>
            <a:ext cx="3047956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FED874C-EA9B-6926-0C70-E5BBE9AAF3A5}"/>
              </a:ext>
            </a:extLst>
          </p:cNvPr>
          <p:cNvSpPr/>
          <p:nvPr/>
        </p:nvSpPr>
        <p:spPr>
          <a:xfrm>
            <a:off x="90519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FBDBFD2-6B11-459B-94A3-6A750BE98944}"/>
              </a:ext>
            </a:extLst>
          </p:cNvPr>
          <p:cNvSpPr/>
          <p:nvPr/>
        </p:nvSpPr>
        <p:spPr>
          <a:xfrm>
            <a:off x="252666" y="410783"/>
            <a:ext cx="2692361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Stage 1: focal domain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ECD9FAE3-841E-3185-D312-2AACF8521499}"/>
              </a:ext>
            </a:extLst>
          </p:cNvPr>
          <p:cNvSpPr/>
          <p:nvPr/>
        </p:nvSpPr>
        <p:spPr>
          <a:xfrm>
            <a:off x="4459256" y="116294"/>
            <a:ext cx="3251153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EB98DFE7-65B9-8565-8315-6DF4A4EF6EDB}"/>
              </a:ext>
            </a:extLst>
          </p:cNvPr>
          <p:cNvSpPr/>
          <p:nvPr/>
        </p:nvSpPr>
        <p:spPr>
          <a:xfrm>
            <a:off x="4459256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F0AC0EA-5BDB-E22B-8D28-B80446B2E715}"/>
              </a:ext>
            </a:extLst>
          </p:cNvPr>
          <p:cNvSpPr/>
          <p:nvPr/>
        </p:nvSpPr>
        <p:spPr>
          <a:xfrm>
            <a:off x="4621403" y="410783"/>
            <a:ext cx="2895559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Model pool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9030916-2DB1-D534-406D-FA2ECC34A3D6}"/>
              </a:ext>
            </a:extLst>
          </p:cNvPr>
          <p:cNvSpPr/>
          <p:nvPr/>
        </p:nvSpPr>
        <p:spPr>
          <a:xfrm>
            <a:off x="4621403" y="1065205"/>
            <a:ext cx="2895559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5 statistical baselines 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33 TSFM models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Practical screening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9A92FE6-822F-AF27-377B-DFE02C5A1600}"/>
              </a:ext>
            </a:extLst>
          </p:cNvPr>
          <p:cNvSpPr/>
          <p:nvPr/>
        </p:nvSpPr>
        <p:spPr>
          <a:xfrm>
            <a:off x="8827994" y="116294"/>
            <a:ext cx="3251152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7C8B962D-BBCC-1916-8BE8-B054ECA0045A}"/>
              </a:ext>
            </a:extLst>
          </p:cNvPr>
          <p:cNvSpPr/>
          <p:nvPr/>
        </p:nvSpPr>
        <p:spPr>
          <a:xfrm>
            <a:off x="8827994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51E88D0-191D-DE86-C771-5D069D145E31}"/>
              </a:ext>
            </a:extLst>
          </p:cNvPr>
          <p:cNvSpPr/>
          <p:nvPr/>
        </p:nvSpPr>
        <p:spPr>
          <a:xfrm>
            <a:off x="8990141" y="410783"/>
            <a:ext cx="2641562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Evaluation setup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40570DDF-E915-96BE-A83D-C1539449DD19}"/>
              </a:ext>
            </a:extLst>
          </p:cNvPr>
          <p:cNvSpPr/>
          <p:nvPr/>
        </p:nvSpPr>
        <p:spPr>
          <a:xfrm>
            <a:off x="8990140" y="1065205"/>
            <a:ext cx="3089005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Horizons: 1, 3, 6 months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18 months hold out set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Rolling-origin with 1 month sliding window </a:t>
            </a: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39E11DB9-1F0D-D67E-7920-2182B7EA2B3F}"/>
              </a:ext>
            </a:extLst>
          </p:cNvPr>
          <p:cNvSpPr/>
          <p:nvPr/>
        </p:nvSpPr>
        <p:spPr>
          <a:xfrm>
            <a:off x="3138475" y="1097926"/>
            <a:ext cx="1320781" cy="0"/>
          </a:xfrm>
          <a:prstGeom prst="line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D3E8E7F5-8CE6-B0A7-82FD-45F91039FAC2}"/>
              </a:ext>
            </a:extLst>
          </p:cNvPr>
          <p:cNvSpPr/>
          <p:nvPr/>
        </p:nvSpPr>
        <p:spPr>
          <a:xfrm>
            <a:off x="7710410" y="1097926"/>
            <a:ext cx="1117583" cy="0"/>
          </a:xfrm>
          <a:prstGeom prst="line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A58A1172-2B7B-FFCC-CFDA-E670163C45D7}"/>
              </a:ext>
            </a:extLst>
          </p:cNvPr>
          <p:cNvSpPr/>
          <p:nvPr/>
        </p:nvSpPr>
        <p:spPr>
          <a:xfrm>
            <a:off x="90519" y="2921788"/>
            <a:ext cx="3047956" cy="22086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DF59A672-0A8E-DC90-7577-B2B57E09EABB}"/>
              </a:ext>
            </a:extLst>
          </p:cNvPr>
          <p:cNvSpPr/>
          <p:nvPr/>
        </p:nvSpPr>
        <p:spPr>
          <a:xfrm>
            <a:off x="90519" y="2921788"/>
            <a:ext cx="81279" cy="2208671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A683C97-4725-05F8-2436-A7359A2A026E}"/>
              </a:ext>
            </a:extLst>
          </p:cNvPr>
          <p:cNvSpPr/>
          <p:nvPr/>
        </p:nvSpPr>
        <p:spPr>
          <a:xfrm>
            <a:off x="252665" y="3216277"/>
            <a:ext cx="2824439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Forecast quality measures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0BE1E642-4CB0-0EB6-596D-CA3A23860FA0}"/>
              </a:ext>
            </a:extLst>
          </p:cNvPr>
          <p:cNvSpPr/>
          <p:nvPr/>
        </p:nvSpPr>
        <p:spPr>
          <a:xfrm>
            <a:off x="252666" y="3870698"/>
            <a:ext cx="2824440" cy="981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Root Mean Squared Scaled Error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Scaled Quantile Loss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Calibration and coverage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Runtime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Configuration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Maintainability</a:t>
            </a: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2AC34761-3FA3-90E7-35BA-9AEAE9304A1E}"/>
              </a:ext>
            </a:extLst>
          </p:cNvPr>
          <p:cNvSpPr/>
          <p:nvPr/>
        </p:nvSpPr>
        <p:spPr>
          <a:xfrm>
            <a:off x="4459256" y="2921788"/>
            <a:ext cx="3251153" cy="22086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CE3C4C37-AF51-6FC3-24FC-D48D632D66BD}"/>
              </a:ext>
            </a:extLst>
          </p:cNvPr>
          <p:cNvSpPr/>
          <p:nvPr/>
        </p:nvSpPr>
        <p:spPr>
          <a:xfrm>
            <a:off x="4459256" y="2921788"/>
            <a:ext cx="81279" cy="220867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2B7E0845-73FA-64B8-A9A1-67B2BE2C4C59}"/>
              </a:ext>
            </a:extLst>
          </p:cNvPr>
          <p:cNvSpPr/>
          <p:nvPr/>
        </p:nvSpPr>
        <p:spPr>
          <a:xfrm>
            <a:off x="4621402" y="3216277"/>
            <a:ext cx="3047956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Stage 2: portability</a:t>
            </a:r>
            <a:endParaRPr lang="en-US" sz="145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D57A1FB8-EE0E-4FC3-85AC-5AED0A9D160E}"/>
              </a:ext>
            </a:extLst>
          </p:cNvPr>
          <p:cNvSpPr/>
          <p:nvPr/>
        </p:nvSpPr>
        <p:spPr>
          <a:xfrm>
            <a:off x="4621402" y="3870698"/>
            <a:ext cx="3047956" cy="981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20,736 monthly Lao multi-domain public health series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Shortlisted feasible models only</a:t>
            </a: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430D4520-71C0-591B-5DDE-9FAFEC876B36}"/>
              </a:ext>
            </a:extLst>
          </p:cNvPr>
          <p:cNvSpPr/>
          <p:nvPr/>
        </p:nvSpPr>
        <p:spPr>
          <a:xfrm flipV="1">
            <a:off x="3138475" y="4017941"/>
            <a:ext cx="1320781" cy="1"/>
          </a:xfrm>
          <a:prstGeom prst="line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AAC42BBA-3BB4-8F1E-9282-9F850082095B}"/>
              </a:ext>
            </a:extLst>
          </p:cNvPr>
          <p:cNvSpPr/>
          <p:nvPr/>
        </p:nvSpPr>
        <p:spPr>
          <a:xfrm>
            <a:off x="8827993" y="2921788"/>
            <a:ext cx="3251153" cy="22086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74DC64C5-297D-71AF-48E0-F26B38625911}"/>
              </a:ext>
            </a:extLst>
          </p:cNvPr>
          <p:cNvSpPr/>
          <p:nvPr/>
        </p:nvSpPr>
        <p:spPr>
          <a:xfrm>
            <a:off x="8827993" y="2921788"/>
            <a:ext cx="81279" cy="220867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D9645B4C-04E2-892C-3529-B6261BCD7A51}"/>
              </a:ext>
            </a:extLst>
          </p:cNvPr>
          <p:cNvSpPr/>
          <p:nvPr/>
        </p:nvSpPr>
        <p:spPr>
          <a:xfrm flipV="1">
            <a:off x="7710409" y="4017941"/>
            <a:ext cx="1137904" cy="0"/>
          </a:xfrm>
          <a:prstGeom prst="line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458C3781-F01B-1574-1D1B-E1E077B49C3D}"/>
              </a:ext>
            </a:extLst>
          </p:cNvPr>
          <p:cNvSpPr/>
          <p:nvPr/>
        </p:nvSpPr>
        <p:spPr>
          <a:xfrm>
            <a:off x="9071418" y="3797076"/>
            <a:ext cx="2803507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5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Operational guidelines and model selection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DB94B59B-9C20-AF89-1146-DFFFEF990CBF}"/>
              </a:ext>
            </a:extLst>
          </p:cNvPr>
          <p:cNvCxnSpPr>
            <a:stCxn id="12" idx="2"/>
            <a:endCxn id="18" idx="0"/>
          </p:cNvCxnSpPr>
          <p:nvPr/>
        </p:nvCxnSpPr>
        <p:spPr>
          <a:xfrm rot="5400000">
            <a:off x="5612919" y="-1918864"/>
            <a:ext cx="842231" cy="8839073"/>
          </a:xfrm>
          <a:prstGeom prst="bentConnector3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 6">
            <a:extLst>
              <a:ext uri="{FF2B5EF4-FFF2-40B4-BE49-F238E27FC236}">
                <a16:creationId xmlns:a16="http://schemas.microsoft.com/office/drawing/2014/main" id="{EB2F263D-94FF-8488-0AD5-4EA8797AE675}"/>
              </a:ext>
            </a:extLst>
          </p:cNvPr>
          <p:cNvSpPr/>
          <p:nvPr/>
        </p:nvSpPr>
        <p:spPr>
          <a:xfrm>
            <a:off x="252666" y="1065205"/>
            <a:ext cx="2692361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4,119 monthly facility-product family planning time series</a:t>
            </a:r>
          </a:p>
        </p:txBody>
      </p:sp>
    </p:spTree>
    <p:extLst>
      <p:ext uri="{BB962C8B-B14F-4D97-AF65-F5344CB8AC3E}">
        <p14:creationId xmlns:p14="http://schemas.microsoft.com/office/powerpoint/2010/main" val="573831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51AA5-4B5C-354D-A27F-D00D4FB8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C69BE0B0-678C-91EA-E30A-178095471F6F}"/>
              </a:ext>
            </a:extLst>
          </p:cNvPr>
          <p:cNvSpPr/>
          <p:nvPr/>
        </p:nvSpPr>
        <p:spPr>
          <a:xfrm>
            <a:off x="90519" y="116294"/>
            <a:ext cx="3047956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98A204A6-666A-A831-3C81-5C785A08CB70}"/>
              </a:ext>
            </a:extLst>
          </p:cNvPr>
          <p:cNvSpPr/>
          <p:nvPr/>
        </p:nvSpPr>
        <p:spPr>
          <a:xfrm>
            <a:off x="90519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5E59C39-8D61-73C2-D33D-D2D41DDFA2A7}"/>
              </a:ext>
            </a:extLst>
          </p:cNvPr>
          <p:cNvSpPr/>
          <p:nvPr/>
        </p:nvSpPr>
        <p:spPr>
          <a:xfrm>
            <a:off x="252666" y="410783"/>
            <a:ext cx="2692361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Stage 1: focal domain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A778D52F-9ACA-8EDA-AAA9-EBA4D9590C79}"/>
              </a:ext>
            </a:extLst>
          </p:cNvPr>
          <p:cNvSpPr/>
          <p:nvPr/>
        </p:nvSpPr>
        <p:spPr>
          <a:xfrm>
            <a:off x="4459256" y="116294"/>
            <a:ext cx="3251153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1D609A63-339A-DB6C-8B6D-94D3B66C9708}"/>
              </a:ext>
            </a:extLst>
          </p:cNvPr>
          <p:cNvSpPr/>
          <p:nvPr/>
        </p:nvSpPr>
        <p:spPr>
          <a:xfrm>
            <a:off x="4459256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D39C18E-CEB0-A441-5B3B-E1CC47EEF832}"/>
              </a:ext>
            </a:extLst>
          </p:cNvPr>
          <p:cNvSpPr/>
          <p:nvPr/>
        </p:nvSpPr>
        <p:spPr>
          <a:xfrm>
            <a:off x="4621403" y="410783"/>
            <a:ext cx="2895559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Model pool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9CD699A-E220-0971-384A-4C1C9E0ACC17}"/>
              </a:ext>
            </a:extLst>
          </p:cNvPr>
          <p:cNvSpPr/>
          <p:nvPr/>
        </p:nvSpPr>
        <p:spPr>
          <a:xfrm>
            <a:off x="4621403" y="1065205"/>
            <a:ext cx="2895559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5 statistical baselines 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33 TSFM models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Practical screening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7ADEB59-D292-10E4-18B8-FA62A0C5322D}"/>
              </a:ext>
            </a:extLst>
          </p:cNvPr>
          <p:cNvSpPr/>
          <p:nvPr/>
        </p:nvSpPr>
        <p:spPr>
          <a:xfrm>
            <a:off x="8827994" y="116294"/>
            <a:ext cx="3251152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3B09B19F-7064-6C04-203C-94051A7C21FB}"/>
              </a:ext>
            </a:extLst>
          </p:cNvPr>
          <p:cNvSpPr/>
          <p:nvPr/>
        </p:nvSpPr>
        <p:spPr>
          <a:xfrm>
            <a:off x="8827994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9BBA6930-AAE4-4995-593C-2FF35A041F0C}"/>
              </a:ext>
            </a:extLst>
          </p:cNvPr>
          <p:cNvSpPr/>
          <p:nvPr/>
        </p:nvSpPr>
        <p:spPr>
          <a:xfrm>
            <a:off x="8990141" y="410783"/>
            <a:ext cx="2641562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Evaluation setup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E095C953-E356-BFEB-73CF-7DD14A0BEC5E}"/>
              </a:ext>
            </a:extLst>
          </p:cNvPr>
          <p:cNvSpPr/>
          <p:nvPr/>
        </p:nvSpPr>
        <p:spPr>
          <a:xfrm>
            <a:off x="3138475" y="1097926"/>
            <a:ext cx="1320781" cy="0"/>
          </a:xfrm>
          <a:prstGeom prst="line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CA660A0E-4F65-8E85-09E9-1B12DE266F08}"/>
              </a:ext>
            </a:extLst>
          </p:cNvPr>
          <p:cNvSpPr/>
          <p:nvPr/>
        </p:nvSpPr>
        <p:spPr>
          <a:xfrm>
            <a:off x="7710410" y="1097926"/>
            <a:ext cx="1117583" cy="0"/>
          </a:xfrm>
          <a:prstGeom prst="line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2992BB99-A931-67C8-35E2-00865A0578A2}"/>
              </a:ext>
            </a:extLst>
          </p:cNvPr>
          <p:cNvSpPr/>
          <p:nvPr/>
        </p:nvSpPr>
        <p:spPr>
          <a:xfrm>
            <a:off x="90519" y="2921788"/>
            <a:ext cx="3047956" cy="22086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1216D2DE-160C-3373-9993-4FB0E035EA8F}"/>
              </a:ext>
            </a:extLst>
          </p:cNvPr>
          <p:cNvSpPr/>
          <p:nvPr/>
        </p:nvSpPr>
        <p:spPr>
          <a:xfrm>
            <a:off x="90519" y="2921788"/>
            <a:ext cx="81279" cy="2208671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4C61D699-28DD-10EA-28E4-9940BDE5AAA8}"/>
              </a:ext>
            </a:extLst>
          </p:cNvPr>
          <p:cNvSpPr/>
          <p:nvPr/>
        </p:nvSpPr>
        <p:spPr>
          <a:xfrm>
            <a:off x="252665" y="3216277"/>
            <a:ext cx="2824439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Forecast quality measures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7A6C02EC-8709-941E-6D8D-325494F09B64}"/>
              </a:ext>
            </a:extLst>
          </p:cNvPr>
          <p:cNvSpPr/>
          <p:nvPr/>
        </p:nvSpPr>
        <p:spPr>
          <a:xfrm>
            <a:off x="252666" y="3870698"/>
            <a:ext cx="2824440" cy="981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Root Mean Squared Scaled Error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Scaled Quantile Loss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Calibration and coverage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Runtime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Configuration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Maintainability</a:t>
            </a: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0E88E714-A44E-E587-3FB2-AC97D195F6F1}"/>
              </a:ext>
            </a:extLst>
          </p:cNvPr>
          <p:cNvSpPr/>
          <p:nvPr/>
        </p:nvSpPr>
        <p:spPr>
          <a:xfrm>
            <a:off x="4459256" y="2921788"/>
            <a:ext cx="3251153" cy="22086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D7F56233-835C-A1CF-9C9A-BE841BFAF22D}"/>
              </a:ext>
            </a:extLst>
          </p:cNvPr>
          <p:cNvSpPr/>
          <p:nvPr/>
        </p:nvSpPr>
        <p:spPr>
          <a:xfrm>
            <a:off x="4459256" y="2921788"/>
            <a:ext cx="81279" cy="2208671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0105019D-F756-66C3-3362-30E5C915BB36}"/>
              </a:ext>
            </a:extLst>
          </p:cNvPr>
          <p:cNvSpPr/>
          <p:nvPr/>
        </p:nvSpPr>
        <p:spPr>
          <a:xfrm>
            <a:off x="4621402" y="3216277"/>
            <a:ext cx="3047956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Stage 2: portability</a:t>
            </a:r>
            <a:endParaRPr lang="en-US" sz="145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FEED67E-F5E1-F269-4AF4-A0FC08F582AA}"/>
              </a:ext>
            </a:extLst>
          </p:cNvPr>
          <p:cNvSpPr/>
          <p:nvPr/>
        </p:nvSpPr>
        <p:spPr>
          <a:xfrm>
            <a:off x="4621402" y="3870698"/>
            <a:ext cx="3047956" cy="981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20,736 monthly Lao multi-domain public health series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Shortlisted feasible models only</a:t>
            </a: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B69D602C-CD5B-8022-6707-156614B6041A}"/>
              </a:ext>
            </a:extLst>
          </p:cNvPr>
          <p:cNvSpPr/>
          <p:nvPr/>
        </p:nvSpPr>
        <p:spPr>
          <a:xfrm flipV="1">
            <a:off x="3138475" y="4017941"/>
            <a:ext cx="1320781" cy="1"/>
          </a:xfrm>
          <a:prstGeom prst="line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C1FA9D1F-3FF1-5B05-C1B3-70B9D94D73C7}"/>
              </a:ext>
            </a:extLst>
          </p:cNvPr>
          <p:cNvSpPr/>
          <p:nvPr/>
        </p:nvSpPr>
        <p:spPr>
          <a:xfrm>
            <a:off x="8827993" y="2921788"/>
            <a:ext cx="3251153" cy="22086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397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F6A1C8F0-062B-F8DB-CA53-4D16C89FCFCF}"/>
              </a:ext>
            </a:extLst>
          </p:cNvPr>
          <p:cNvSpPr/>
          <p:nvPr/>
        </p:nvSpPr>
        <p:spPr>
          <a:xfrm>
            <a:off x="8827993" y="2921788"/>
            <a:ext cx="81279" cy="220867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94591790-3B89-C98F-1A9F-F8BB67DA5F27}"/>
              </a:ext>
            </a:extLst>
          </p:cNvPr>
          <p:cNvSpPr/>
          <p:nvPr/>
        </p:nvSpPr>
        <p:spPr>
          <a:xfrm flipV="1">
            <a:off x="7710409" y="4017941"/>
            <a:ext cx="1137904" cy="0"/>
          </a:xfrm>
          <a:prstGeom prst="line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DB6EAC50-4631-BAD2-3938-1821608E567B}"/>
              </a:ext>
            </a:extLst>
          </p:cNvPr>
          <p:cNvSpPr/>
          <p:nvPr/>
        </p:nvSpPr>
        <p:spPr>
          <a:xfrm>
            <a:off x="9071418" y="3797076"/>
            <a:ext cx="2803507" cy="4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5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Operational guidelines and model selection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B58FF40-8F42-A1E8-223D-23A41FCA6104}"/>
              </a:ext>
            </a:extLst>
          </p:cNvPr>
          <p:cNvCxnSpPr>
            <a:stCxn id="12" idx="2"/>
            <a:endCxn id="18" idx="0"/>
          </p:cNvCxnSpPr>
          <p:nvPr/>
        </p:nvCxnSpPr>
        <p:spPr>
          <a:xfrm rot="5400000">
            <a:off x="5612919" y="-1918864"/>
            <a:ext cx="842231" cy="8839073"/>
          </a:xfrm>
          <a:prstGeom prst="bentConnector3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 6">
            <a:extLst>
              <a:ext uri="{FF2B5EF4-FFF2-40B4-BE49-F238E27FC236}">
                <a16:creationId xmlns:a16="http://schemas.microsoft.com/office/drawing/2014/main" id="{EA78FB53-A520-79C9-9E91-A6CB20265CDD}"/>
              </a:ext>
            </a:extLst>
          </p:cNvPr>
          <p:cNvSpPr/>
          <p:nvPr/>
        </p:nvSpPr>
        <p:spPr>
          <a:xfrm>
            <a:off x="252666" y="1065205"/>
            <a:ext cx="2692361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4,119 monthly facility-product family planning time series</a:t>
            </a:r>
          </a:p>
        </p:txBody>
      </p:sp>
      <p:sp>
        <p:nvSpPr>
          <p:cNvPr id="3" name="Text 14">
            <a:extLst>
              <a:ext uri="{FF2B5EF4-FFF2-40B4-BE49-F238E27FC236}">
                <a16:creationId xmlns:a16="http://schemas.microsoft.com/office/drawing/2014/main" id="{9897CBF7-01C9-BC49-C930-A800DA71894F}"/>
              </a:ext>
            </a:extLst>
          </p:cNvPr>
          <p:cNvSpPr/>
          <p:nvPr/>
        </p:nvSpPr>
        <p:spPr>
          <a:xfrm>
            <a:off x="8990140" y="1065205"/>
            <a:ext cx="3089005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Horizons: 1, 3, 6 months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18 months hold out set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Rolling-origin with 1 month sliding window </a:t>
            </a:r>
          </a:p>
        </p:txBody>
      </p:sp>
    </p:spTree>
    <p:extLst>
      <p:ext uri="{BB962C8B-B14F-4D97-AF65-F5344CB8AC3E}">
        <p14:creationId xmlns:p14="http://schemas.microsoft.com/office/powerpoint/2010/main" val="1920831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B561-3DF6-F56F-96F6-AA3BEAA3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B0881AA2-6644-4BD2-4357-73A299165E7B}"/>
              </a:ext>
            </a:extLst>
          </p:cNvPr>
          <p:cNvSpPr/>
          <p:nvPr/>
        </p:nvSpPr>
        <p:spPr>
          <a:xfrm>
            <a:off x="90519" y="116294"/>
            <a:ext cx="3047956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1AC9E03-93C7-0C76-1D91-7800BCFA8F57}"/>
              </a:ext>
            </a:extLst>
          </p:cNvPr>
          <p:cNvSpPr/>
          <p:nvPr/>
        </p:nvSpPr>
        <p:spPr>
          <a:xfrm>
            <a:off x="90519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08FA92C-0A22-EA01-46C5-34A936BAC109}"/>
              </a:ext>
            </a:extLst>
          </p:cNvPr>
          <p:cNvSpPr/>
          <p:nvPr/>
        </p:nvSpPr>
        <p:spPr>
          <a:xfrm>
            <a:off x="252666" y="410783"/>
            <a:ext cx="2692361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Stage 1: focal domain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A1FA7408-B4A3-0282-E321-648E6E32508D}"/>
              </a:ext>
            </a:extLst>
          </p:cNvPr>
          <p:cNvSpPr/>
          <p:nvPr/>
        </p:nvSpPr>
        <p:spPr>
          <a:xfrm>
            <a:off x="4459256" y="116294"/>
            <a:ext cx="3251153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359BB04B-0714-56F7-4C87-574DB7D3BCE1}"/>
              </a:ext>
            </a:extLst>
          </p:cNvPr>
          <p:cNvSpPr/>
          <p:nvPr/>
        </p:nvSpPr>
        <p:spPr>
          <a:xfrm>
            <a:off x="4459256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F81ED25C-F09E-0C97-E5F6-3B226C9B9C52}"/>
              </a:ext>
            </a:extLst>
          </p:cNvPr>
          <p:cNvSpPr/>
          <p:nvPr/>
        </p:nvSpPr>
        <p:spPr>
          <a:xfrm>
            <a:off x="4621403" y="410783"/>
            <a:ext cx="2895559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Model pool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38A9EF89-E996-F49B-6582-EB901DD053D9}"/>
              </a:ext>
            </a:extLst>
          </p:cNvPr>
          <p:cNvSpPr/>
          <p:nvPr/>
        </p:nvSpPr>
        <p:spPr>
          <a:xfrm>
            <a:off x="4621403" y="1065205"/>
            <a:ext cx="2895559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5 statistical baselines 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33 TSFM models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Practical screening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5DC886D6-1BC0-D308-BF1A-AD66FD39C46D}"/>
              </a:ext>
            </a:extLst>
          </p:cNvPr>
          <p:cNvSpPr/>
          <p:nvPr/>
        </p:nvSpPr>
        <p:spPr>
          <a:xfrm>
            <a:off x="8827994" y="116294"/>
            <a:ext cx="3251152" cy="19632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E41FFE29-B44E-1F79-AA73-4368C65B4A92}"/>
              </a:ext>
            </a:extLst>
          </p:cNvPr>
          <p:cNvSpPr/>
          <p:nvPr/>
        </p:nvSpPr>
        <p:spPr>
          <a:xfrm>
            <a:off x="8827994" y="116294"/>
            <a:ext cx="81279" cy="1963263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AE6BE4B-6B19-915A-1716-4D989F605290}"/>
              </a:ext>
            </a:extLst>
          </p:cNvPr>
          <p:cNvSpPr/>
          <p:nvPr/>
        </p:nvSpPr>
        <p:spPr>
          <a:xfrm>
            <a:off x="8990141" y="410783"/>
            <a:ext cx="2641562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Evaluation setup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B6696740-85EB-E437-CCC9-1C24D8A002A5}"/>
              </a:ext>
            </a:extLst>
          </p:cNvPr>
          <p:cNvSpPr/>
          <p:nvPr/>
        </p:nvSpPr>
        <p:spPr>
          <a:xfrm>
            <a:off x="3138475" y="1097926"/>
            <a:ext cx="1320781" cy="0"/>
          </a:xfrm>
          <a:prstGeom prst="line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F145FB7F-7F58-56D0-920A-BC30E6B06178}"/>
              </a:ext>
            </a:extLst>
          </p:cNvPr>
          <p:cNvSpPr/>
          <p:nvPr/>
        </p:nvSpPr>
        <p:spPr>
          <a:xfrm>
            <a:off x="7710410" y="1097926"/>
            <a:ext cx="1117583" cy="0"/>
          </a:xfrm>
          <a:prstGeom prst="line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E1532AE5-C4DC-36E0-15B9-1DB46464C6AA}"/>
              </a:ext>
            </a:extLst>
          </p:cNvPr>
          <p:cNvSpPr/>
          <p:nvPr/>
        </p:nvSpPr>
        <p:spPr>
          <a:xfrm>
            <a:off x="90519" y="2921788"/>
            <a:ext cx="3047956" cy="22086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138E9AEB-E162-9DE5-AE7B-871803B17FC0}"/>
              </a:ext>
            </a:extLst>
          </p:cNvPr>
          <p:cNvSpPr/>
          <p:nvPr/>
        </p:nvSpPr>
        <p:spPr>
          <a:xfrm>
            <a:off x="90519" y="2921788"/>
            <a:ext cx="81279" cy="2208671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06EF18A9-445C-3E66-9B05-B488E35656E6}"/>
              </a:ext>
            </a:extLst>
          </p:cNvPr>
          <p:cNvSpPr/>
          <p:nvPr/>
        </p:nvSpPr>
        <p:spPr>
          <a:xfrm>
            <a:off x="252665" y="3216277"/>
            <a:ext cx="2824439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Forecast quality measures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F415AF95-79E2-DE28-6F9C-493EA1AA1811}"/>
              </a:ext>
            </a:extLst>
          </p:cNvPr>
          <p:cNvSpPr/>
          <p:nvPr/>
        </p:nvSpPr>
        <p:spPr>
          <a:xfrm>
            <a:off x="252666" y="3870698"/>
            <a:ext cx="2824440" cy="981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Root Mean Squared Scaled Error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Scaled Quantile Loss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Calibration and coverage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Runtime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Configuration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Maintainability</a:t>
            </a: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97D0F04B-DA76-ACE5-6629-A0A323ACF905}"/>
              </a:ext>
            </a:extLst>
          </p:cNvPr>
          <p:cNvSpPr/>
          <p:nvPr/>
        </p:nvSpPr>
        <p:spPr>
          <a:xfrm>
            <a:off x="4459256" y="2921788"/>
            <a:ext cx="3251153" cy="22086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4AC670DB-A3D6-C34B-62D6-4F2BA9849F7E}"/>
              </a:ext>
            </a:extLst>
          </p:cNvPr>
          <p:cNvSpPr/>
          <p:nvPr/>
        </p:nvSpPr>
        <p:spPr>
          <a:xfrm>
            <a:off x="4459256" y="2921788"/>
            <a:ext cx="81279" cy="2208671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D5EE129E-A36A-D772-3FC7-23A22C8C9ECA}"/>
              </a:ext>
            </a:extLst>
          </p:cNvPr>
          <p:cNvSpPr/>
          <p:nvPr/>
        </p:nvSpPr>
        <p:spPr>
          <a:xfrm>
            <a:off x="4621402" y="3216277"/>
            <a:ext cx="3047956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Stage 2: portability</a:t>
            </a:r>
            <a:endParaRPr lang="en-US" sz="145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1709FD37-B977-9ACB-D987-6371DBD5E2A3}"/>
              </a:ext>
            </a:extLst>
          </p:cNvPr>
          <p:cNvSpPr/>
          <p:nvPr/>
        </p:nvSpPr>
        <p:spPr>
          <a:xfrm>
            <a:off x="4621402" y="3870698"/>
            <a:ext cx="3047956" cy="981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20,736 monthly Lao multi-domain public health series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Shortlisted feasible models only</a:t>
            </a: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66B2C253-9C7C-2B49-9C91-798D0C647DE9}"/>
              </a:ext>
            </a:extLst>
          </p:cNvPr>
          <p:cNvSpPr/>
          <p:nvPr/>
        </p:nvSpPr>
        <p:spPr>
          <a:xfrm flipV="1">
            <a:off x="3138475" y="4017941"/>
            <a:ext cx="1320781" cy="1"/>
          </a:xfrm>
          <a:prstGeom prst="line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F272D479-CD26-530A-5846-C1F25A62148B}"/>
              </a:ext>
            </a:extLst>
          </p:cNvPr>
          <p:cNvSpPr/>
          <p:nvPr/>
        </p:nvSpPr>
        <p:spPr>
          <a:xfrm>
            <a:off x="8827993" y="2921788"/>
            <a:ext cx="3251153" cy="22086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397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56C90F7F-A1FD-FF0E-A34C-F15A669671D0}"/>
              </a:ext>
            </a:extLst>
          </p:cNvPr>
          <p:cNvSpPr/>
          <p:nvPr/>
        </p:nvSpPr>
        <p:spPr>
          <a:xfrm>
            <a:off x="8827993" y="2921788"/>
            <a:ext cx="81279" cy="2208671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DFAF7399-FDED-5CE8-4592-A97E1E354080}"/>
              </a:ext>
            </a:extLst>
          </p:cNvPr>
          <p:cNvSpPr/>
          <p:nvPr/>
        </p:nvSpPr>
        <p:spPr>
          <a:xfrm flipV="1">
            <a:off x="7710409" y="4017941"/>
            <a:ext cx="1137904" cy="0"/>
          </a:xfrm>
          <a:prstGeom prst="line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353CC9C2-A9F9-AF36-65C7-4CB491A36C23}"/>
              </a:ext>
            </a:extLst>
          </p:cNvPr>
          <p:cNvSpPr/>
          <p:nvPr/>
        </p:nvSpPr>
        <p:spPr>
          <a:xfrm>
            <a:off x="9071418" y="3797076"/>
            <a:ext cx="2803507" cy="4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Operational guidelines and model selection framework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E2D9F4BE-7C0D-DFF7-2C6D-0E1041E21A35}"/>
              </a:ext>
            </a:extLst>
          </p:cNvPr>
          <p:cNvCxnSpPr>
            <a:stCxn id="12" idx="2"/>
            <a:endCxn id="18" idx="0"/>
          </p:cNvCxnSpPr>
          <p:nvPr/>
        </p:nvCxnSpPr>
        <p:spPr>
          <a:xfrm rot="5400000">
            <a:off x="5612919" y="-1918864"/>
            <a:ext cx="842231" cy="8839073"/>
          </a:xfrm>
          <a:prstGeom prst="bentConnector3">
            <a:avLst/>
          </a:prstGeom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 6">
            <a:extLst>
              <a:ext uri="{FF2B5EF4-FFF2-40B4-BE49-F238E27FC236}">
                <a16:creationId xmlns:a16="http://schemas.microsoft.com/office/drawing/2014/main" id="{D9FF6904-6479-4B55-9075-1147CB60D115}"/>
              </a:ext>
            </a:extLst>
          </p:cNvPr>
          <p:cNvSpPr/>
          <p:nvPr/>
        </p:nvSpPr>
        <p:spPr>
          <a:xfrm>
            <a:off x="252666" y="1065205"/>
            <a:ext cx="2692361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4,119 monthly facility-product family planning time series</a:t>
            </a:r>
          </a:p>
        </p:txBody>
      </p:sp>
      <p:sp>
        <p:nvSpPr>
          <p:cNvPr id="3" name="Text 14">
            <a:extLst>
              <a:ext uri="{FF2B5EF4-FFF2-40B4-BE49-F238E27FC236}">
                <a16:creationId xmlns:a16="http://schemas.microsoft.com/office/drawing/2014/main" id="{C488FD37-A2C4-4741-3F2D-9C2FD5EE4EC8}"/>
              </a:ext>
            </a:extLst>
          </p:cNvPr>
          <p:cNvSpPr/>
          <p:nvPr/>
        </p:nvSpPr>
        <p:spPr>
          <a:xfrm>
            <a:off x="8990140" y="1065205"/>
            <a:ext cx="3089005" cy="736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Horizons: 1, 3, 6 months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18 months hold out set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Rolling-origin with 1 month sliding window </a:t>
            </a:r>
          </a:p>
        </p:txBody>
      </p:sp>
    </p:spTree>
    <p:extLst>
      <p:ext uri="{BB962C8B-B14F-4D97-AF65-F5344CB8AC3E}">
        <p14:creationId xmlns:p14="http://schemas.microsoft.com/office/powerpoint/2010/main" val="3631291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461</Words>
  <Application>Microsoft Office PowerPoint</Application>
  <PresentationFormat>Widescreen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Halgamuwe Hewage</dc:creator>
  <cp:lastModifiedBy>Harsha Halgamuwe Hewage</cp:lastModifiedBy>
  <cp:revision>13</cp:revision>
  <dcterms:created xsi:type="dcterms:W3CDTF">2026-03-27T18:40:51Z</dcterms:created>
  <dcterms:modified xsi:type="dcterms:W3CDTF">2026-06-18T08:36:21Z</dcterms:modified>
</cp:coreProperties>
</file>